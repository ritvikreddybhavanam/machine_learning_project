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Films</c:v>
                </c:pt>
              </c:strCache>
            </c:strRef>
          </c:tx>
          <c:spPr>
            <a:solidFill>
              <a:srgbClr val="8B1E3F"/>
            </a:solidFill>
            <a:effectLst/>
          </c:spPr>
          <c:invertIfNegative val="0"/>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cat>
            <c:multiLvlStrRef>
              <c:f>Sheet1!$A$2:$A$10</c:f>
              <c:multiLvlStrCache>
                <c:ptCount val="9"/>
                <c:lvl>
                  <c:pt idx="0">
                    <c:v>Drama</c:v>
                  </c:pt>
                  <c:pt idx="1">
                    <c:v>Comedy</c:v>
                  </c:pt>
                  <c:pt idx="2">
                    <c:v>Thriller</c:v>
                  </c:pt>
                  <c:pt idx="3">
                    <c:v>Love Story</c:v>
                  </c:pt>
                  <c:pt idx="4">
                    <c:v>Action</c:v>
                  </c:pt>
                  <c:pt idx="5">
                    <c:v>Rom-Com</c:v>
                  </c:pt>
                  <c:pt idx="6">
                    <c:v>Adult</c:v>
                  </c:pt>
                  <c:pt idx="7">
                    <c:v>Horror</c:v>
                  </c:pt>
                  <c:pt idx="8">
                    <c:v>Others</c:v>
                  </c:pt>
                </c:lvl>
              </c:multiLvlStrCache>
            </c:multiLvlStrRef>
          </c:cat>
          <c:val>
            <c:numRef>
              <c:f>Sheet1!$B$2:$B$10</c:f>
              <c:numCache>
                <c:formatCode>General</c:formatCode>
                <c:ptCount val="9"/>
                <c:pt idx="0">
                  <c:v>639</c:v>
                </c:pt>
                <c:pt idx="1">
                  <c:v>284</c:v>
                </c:pt>
                <c:pt idx="2">
                  <c:v>211</c:v>
                </c:pt>
                <c:pt idx="3">
                  <c:v>133</c:v>
                </c:pt>
                <c:pt idx="4">
                  <c:v>127</c:v>
                </c:pt>
                <c:pt idx="5">
                  <c:v>95</c:v>
                </c:pt>
                <c:pt idx="6">
                  <c:v>78</c:v>
                </c:pt>
                <c:pt idx="7">
                  <c:v>52</c:v>
                </c:pt>
                <c:pt idx="8">
                  <c:v>77</c:v>
                </c:pt>
              </c:numCache>
            </c:numRef>
          </c:val>
        </c:ser>
        <c:dLbls>
          <c:numFmt formatCode="#,##0"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1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6B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Correlation with Revenue(INR)</c:v>
                </c:pt>
              </c:strCache>
            </c:strRef>
          </c:tx>
          <c:spPr>
            <a:solidFill>
              <a:srgbClr val="8B1E3F"/>
            </a:solidFill>
            <a:effectLst/>
          </c:spPr>
          <c:invertIfNegative val="0"/>
          <c:dLbls>
            <c:numFmt formatCode="0.0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cat>
            <c:multiLvlStrRef>
              <c:f>Sheet1!$A$2:$A$4</c:f>
              <c:multiLvlStrCache>
                <c:ptCount val="3"/>
                <c:lvl>
                  <c:pt idx="0">
                    <c:v>Number_of_Screens</c:v>
                  </c:pt>
                  <c:pt idx="1">
                    <c:v>Budget(INR)</c:v>
                  </c:pt>
                  <c:pt idx="2">
                    <c:v>Screens ↔ Budget</c:v>
                  </c:pt>
                </c:lvl>
              </c:multiLvlStrCache>
            </c:multiLvlStrRef>
          </c:cat>
          <c:val>
            <c:numRef>
              <c:f>Sheet1!$B$2:$B$4</c:f>
              <c:numCache>
                <c:formatCode>General</c:formatCode>
                <c:ptCount val="3"/>
                <c:pt idx="0">
                  <c:v>0.898</c:v>
                </c:pt>
                <c:pt idx="1">
                  <c:v>0.844</c:v>
                </c:pt>
                <c:pt idx="2">
                  <c:v>0.775</c:v>
                </c:pt>
              </c:numCache>
            </c:numRef>
          </c:val>
        </c:ser>
        <c:dLbls>
          <c:numFmt formatCode="0.00" sourceLinked="0"/>
          <c:txPr>
            <a:bodyPr/>
            <a:lstStyle/>
            <a:p>
              <a:pPr>
                <a:defRPr b="0" i="0" strike="noStrike" sz="11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1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Split</c:v>
                </c:pt>
              </c:strCache>
            </c:strRef>
          </c:tx>
          <c:spPr>
            <a:solidFill>
              <a:schemeClr val="accent1"/>
            </a:solidFill>
            <a:ln w="9525" cap="flat">
              <a:solidFill>
                <a:srgbClr val="F9F9F9"/>
              </a:solidFill>
              <a:prstDash val="solid"/>
              <a:round/>
            </a:ln>
            <a:effectLst/>
          </c:spPr>
          <c:dPt>
            <c:idx val="0"/>
            <c:bubble3D val="0"/>
            <c:spPr>
              <a:solidFill>
                <a:srgbClr val="8B1E3F"/>
              </a:solidFill>
              <a:effectLst/>
            </c:spPr>
          </c:dPt>
          <c:dPt>
            <c:idx val="1"/>
            <c:bubble3D val="0"/>
            <c:spPr>
              <a:solidFill>
                <a:srgbClr val="D4AF37"/>
              </a:solidFill>
              <a:effectLst/>
            </c:spPr>
          </c:dPt>
          <c:dLbls>
            <c:dLbl>
              <c:idx val="0"/>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Training — 1,356 films (79.95%)</c:v>
                </c:pt>
                <c:pt idx="1">
                  <c:v>Testing — 340 films (20.05%)</c:v>
                </c:pt>
              </c:strCache>
            </c:strRef>
          </c:cat>
          <c:val>
            <c:numRef>
              <c:f>Sheet1!$B$2:$B$3</c:f>
              <c:numCache>
                <c:ptCount val="2"/>
                <c:pt idx="0">
                  <c:v>1356</c:v>
                </c:pt>
                <c:pt idx="1">
                  <c:v>340</c:v>
                </c:pt>
              </c:numCache>
            </c:numRef>
          </c:val>
        </c:ser>
        <c:firstSliceAng val="0"/>
      </c:pieChart>
      <c:spPr>
        <a:noFill/>
        <a:ln>
          <a:noFill/>
        </a:ln>
        <a:effectLst/>
      </c:spPr>
    </c:plotArea>
    <c:legend>
      <c:legendPos val="b"/>
      <c:overlay val="0"/>
      <c:txPr>
        <a:bodyPr/>
        <a:lstStyle/>
        <a:p>
          <a:pPr>
            <a:defRPr sz="1100">
              <a:solidFill>
                <a:srgbClr val="1A1A2E"/>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|Coefficient| (₹ Crore)</c:v>
                </c:pt>
              </c:strCache>
            </c:strRef>
          </c:tx>
          <c:spPr>
            <a:solidFill>
              <a:srgbClr val="8B1E3F"/>
            </a:solidFill>
            <a:effectLst/>
          </c:spPr>
          <c:invertIfNegative val="0"/>
          <c:dLbls>
            <c:numFmt formatCode="0.0&quot;cr&quot;"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cat>
            <c:multiLvlStrRef>
              <c:f>Sheet1!$A$2:$A$11</c:f>
              <c:multiLvlStrCache>
                <c:ptCount val="10"/>
                <c:lvl>
                  <c:pt idx="0">
                    <c:v>Director: Ali Abbas Zafar</c:v>
                  </c:pt>
                  <c:pt idx="1">
                    <c:v>Lead_Star: Aamir Khan</c:v>
                  </c:pt>
                  <c:pt idx="2">
                    <c:v>Lead_Star: Hrithik Roshan</c:v>
                  </c:pt>
                  <c:pt idx="3">
                    <c:v>Music_Director: DJ Chetas</c:v>
                  </c:pt>
                  <c:pt idx="4">
                    <c:v>Lead_Star: Salman Khan</c:v>
                  </c:pt>
                  <c:pt idx="5">
                    <c:v>Lead_Star: Prabhas</c:v>
                  </c:pt>
                  <c:pt idx="6">
                    <c:v>Director: S.S. Rajamouli</c:v>
                  </c:pt>
                  <c:pt idx="7">
                    <c:v>Lead_Star: Shahrukh Khan</c:v>
                  </c:pt>
                  <c:pt idx="8">
                    <c:v>Budget(INR)</c:v>
                  </c:pt>
                  <c:pt idx="9">
                    <c:v>Number_of_Screens</c:v>
                  </c:pt>
                </c:lvl>
              </c:multiLvlStrCache>
            </c:multiLvlStrRef>
          </c:cat>
          <c:val>
            <c:numRef>
              <c:f>Sheet1!$B$2:$B$11</c:f>
              <c:numCache>
                <c:formatCode>General</c:formatCode>
                <c:ptCount val="10"/>
                <c:pt idx="0">
                  <c:v>14.02</c:v>
                </c:pt>
                <c:pt idx="1">
                  <c:v>14.08</c:v>
                </c:pt>
                <c:pt idx="2">
                  <c:v>14.12</c:v>
                </c:pt>
                <c:pt idx="3">
                  <c:v>14.88</c:v>
                </c:pt>
                <c:pt idx="4">
                  <c:v>16.02</c:v>
                </c:pt>
                <c:pt idx="5">
                  <c:v>19.78</c:v>
                </c:pt>
                <c:pt idx="6">
                  <c:v>19.78</c:v>
                </c:pt>
                <c:pt idx="7">
                  <c:v>22.7</c:v>
                </c:pt>
                <c:pt idx="8">
                  <c:v>45.03</c:v>
                </c:pt>
                <c:pt idx="9">
                  <c:v>130.67</c:v>
                </c:pt>
              </c:numCache>
            </c:numRef>
          </c:val>
        </c:ser>
        <c:dLbls>
          <c:numFmt formatCode="0.0&quot;cr&quot;" sourceLinked="0"/>
          <c:txPr>
            <a:bodyPr/>
            <a:lstStyle/>
            <a:p>
              <a:pPr>
                <a:defRPr b="0" i="0" strike="noStrike" sz="900" u="none">
                  <a:solidFill>
                    <a:srgbClr val="1A1A2E"/>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6B6B7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Predicted Revenue</c:v>
                </c:pt>
              </c:strCache>
            </c:strRef>
          </c:tx>
          <c:spPr>
            <a:solidFill>
              <a:srgbClr val="8B1E3F"/>
            </a:solidFill>
            <a:ln w="25400" cap="flat">
              <a:solidFill>
                <a:srgbClr val="8B1E3F"/>
              </a:solidFill>
              <a:prstDash val="solid"/>
              <a:round/>
            </a:ln>
            <a:effectLst/>
          </c:spPr>
          <c:marker>
            <c:symbol val="circle"/>
            <c:size val="6"/>
            <c:spPr>
              <a:solidFill>
                <a:srgbClr val="8B1E3F"/>
              </a:solidFill>
              <a:ln w="9525" cap="flat">
                <a:solidFill>
                  <a:srgbClr val="8B1E3F"/>
                </a:solidFill>
                <a:prstDash val="solid"/>
                <a:round/>
              </a:ln>
              <a:effectLst/>
            </c:spPr>
          </c:marker>
          <c:xVal>
            <c:numRef>
              <c:f>Sheet1!$A$2:$A$21</c:f>
              <c:numCache>
                <c:formatCode>General</c:formatCode>
                <c:ptCount val="20"/>
                <c:pt idx="0">
                  <c:v>0.3</c:v>
                </c:pt>
                <c:pt idx="1">
                  <c:v>2</c:v>
                </c:pt>
                <c:pt idx="2">
                  <c:v>2</c:v>
                </c:pt>
                <c:pt idx="3">
                  <c:v>7</c:v>
                </c:pt>
                <c:pt idx="4">
                  <c:v>8</c:v>
                </c:pt>
                <c:pt idx="5">
                  <c:v>8</c:v>
                </c:pt>
                <c:pt idx="6">
                  <c:v>16</c:v>
                </c:pt>
                <c:pt idx="7">
                  <c:v>19</c:v>
                </c:pt>
                <c:pt idx="8">
                  <c:v>23</c:v>
                </c:pt>
                <c:pt idx="9">
                  <c:v>35</c:v>
                </c:pt>
                <c:pt idx="10">
                  <c:v>55</c:v>
                </c:pt>
                <c:pt idx="11">
                  <c:v>65</c:v>
                </c:pt>
                <c:pt idx="12">
                  <c:v>71</c:v>
                </c:pt>
                <c:pt idx="13">
                  <c:v>80</c:v>
                </c:pt>
                <c:pt idx="14">
                  <c:v>118</c:v>
                </c:pt>
                <c:pt idx="15">
                  <c:v>138</c:v>
                </c:pt>
                <c:pt idx="16">
                  <c:v>145</c:v>
                </c:pt>
                <c:pt idx="17">
                  <c:v>150</c:v>
                </c:pt>
                <c:pt idx="18">
                  <c:v>165</c:v>
                </c:pt>
                <c:pt idx="19">
                  <c:v>180</c:v>
                </c:pt>
              </c:numCache>
            </c:numRef>
          </c:xVal>
          <c:yVal>
            <c:numRef>
              <c:f>Sheet1!$B$2:$B$21</c:f>
              <c:numCache>
                <c:formatCode>General</c:formatCode>
                <c:ptCount val="20"/>
                <c:pt idx="0">
                  <c:v>0.72</c:v>
                </c:pt>
                <c:pt idx="1">
                  <c:v>5.07</c:v>
                </c:pt>
                <c:pt idx="2">
                  <c:v>4.74</c:v>
                </c:pt>
                <c:pt idx="3">
                  <c:v>-2.3</c:v>
                </c:pt>
                <c:pt idx="4">
                  <c:v>-3.38</c:v>
                </c:pt>
                <c:pt idx="5">
                  <c:v>4.9</c:v>
                </c:pt>
                <c:pt idx="6">
                  <c:v>10.01</c:v>
                </c:pt>
                <c:pt idx="7">
                  <c:v>44.01</c:v>
                </c:pt>
                <c:pt idx="8">
                  <c:v>31.26</c:v>
                </c:pt>
                <c:pt idx="9">
                  <c:v>34.14</c:v>
                </c:pt>
                <c:pt idx="10">
                  <c:v>27.6</c:v>
                </c:pt>
                <c:pt idx="11">
                  <c:v>19.69</c:v>
                </c:pt>
                <c:pt idx="12">
                  <c:v>29.04</c:v>
                </c:pt>
                <c:pt idx="13">
                  <c:v>39.97</c:v>
                </c:pt>
                <c:pt idx="14">
                  <c:v>61.67</c:v>
                </c:pt>
                <c:pt idx="15">
                  <c:v>97.62</c:v>
                </c:pt>
                <c:pt idx="16">
                  <c:v>98.07</c:v>
                </c:pt>
                <c:pt idx="17">
                  <c:v>99.98</c:v>
                </c:pt>
                <c:pt idx="18">
                  <c:v>101.32</c:v>
                </c:pt>
                <c:pt idx="19">
                  <c:v>111.59</c:v>
                </c:pt>
              </c:numCache>
            </c:numRef>
          </c:yVal>
          <c:smooth val="0"/>
        </c:ser>
        <c:ser>
          <c:idx val="1"/>
          <c:order val="1"/>
          <c:tx>
            <c:strRef>
              <c:f>Sheet1!$C$1</c:f>
              <c:strCache>
                <c:ptCount val="1"/>
                <c:pt idx="0">
                  <c:v>Perfect Prediction</c:v>
                </c:pt>
              </c:strCache>
            </c:strRef>
          </c:tx>
          <c:spPr>
            <a:solidFill>
              <a:srgbClr val="D4AF37"/>
            </a:solidFill>
            <a:ln w="25400" cap="flat">
              <a:solidFill>
                <a:srgbClr val="D4AF37"/>
              </a:solidFill>
              <a:prstDash val="solid"/>
              <a:round/>
            </a:ln>
            <a:effectLst/>
          </c:spPr>
          <c:marker>
            <c:symbol val="circle"/>
            <c:size val="6"/>
            <c:spPr>
              <a:solidFill>
                <a:srgbClr val="D4AF37"/>
              </a:solidFill>
              <a:ln w="9525" cap="flat">
                <a:solidFill>
                  <a:srgbClr val="D4AF37"/>
                </a:solidFill>
                <a:prstDash val="solid"/>
                <a:round/>
              </a:ln>
              <a:effectLst/>
            </c:spPr>
          </c:marker>
          <c:xVal>
            <c:numRef>
              <c:f>Sheet1!$A$2:$A$21</c:f>
              <c:numCache>
                <c:formatCode>General</c:formatCode>
                <c:ptCount val="20"/>
                <c:pt idx="0">
                  <c:v>0.3</c:v>
                </c:pt>
                <c:pt idx="1">
                  <c:v>2</c:v>
                </c:pt>
                <c:pt idx="2">
                  <c:v>2</c:v>
                </c:pt>
                <c:pt idx="3">
                  <c:v>7</c:v>
                </c:pt>
                <c:pt idx="4">
                  <c:v>8</c:v>
                </c:pt>
                <c:pt idx="5">
                  <c:v>8</c:v>
                </c:pt>
                <c:pt idx="6">
                  <c:v>16</c:v>
                </c:pt>
                <c:pt idx="7">
                  <c:v>19</c:v>
                </c:pt>
                <c:pt idx="8">
                  <c:v>23</c:v>
                </c:pt>
                <c:pt idx="9">
                  <c:v>35</c:v>
                </c:pt>
                <c:pt idx="10">
                  <c:v>55</c:v>
                </c:pt>
                <c:pt idx="11">
                  <c:v>65</c:v>
                </c:pt>
                <c:pt idx="12">
                  <c:v>71</c:v>
                </c:pt>
                <c:pt idx="13">
                  <c:v>80</c:v>
                </c:pt>
                <c:pt idx="14">
                  <c:v>118</c:v>
                </c:pt>
                <c:pt idx="15">
                  <c:v>138</c:v>
                </c:pt>
                <c:pt idx="16">
                  <c:v>145</c:v>
                </c:pt>
                <c:pt idx="17">
                  <c:v>150</c:v>
                </c:pt>
                <c:pt idx="18">
                  <c:v>165</c:v>
                </c:pt>
                <c:pt idx="19">
                  <c:v>180</c:v>
                </c:pt>
              </c:numCache>
            </c:numRef>
          </c:xVal>
          <c:yVal>
            <c:numRef>
              <c:f>Sheet1!$C$2:$C$21</c:f>
              <c:numCache>
                <c:formatCode>General</c:formatCode>
                <c:ptCount val="20"/>
                <c:pt idx="0">
                  <c:v>0.3</c:v>
                </c:pt>
                <c:pt idx="1">
                  <c:v>2</c:v>
                </c:pt>
                <c:pt idx="2">
                  <c:v>2</c:v>
                </c:pt>
                <c:pt idx="3">
                  <c:v>7</c:v>
                </c:pt>
                <c:pt idx="4">
                  <c:v>8</c:v>
                </c:pt>
                <c:pt idx="5">
                  <c:v>8</c:v>
                </c:pt>
                <c:pt idx="6">
                  <c:v>16</c:v>
                </c:pt>
                <c:pt idx="7">
                  <c:v>19</c:v>
                </c:pt>
                <c:pt idx="8">
                  <c:v>23</c:v>
                </c:pt>
                <c:pt idx="9">
                  <c:v>35</c:v>
                </c:pt>
                <c:pt idx="10">
                  <c:v>55</c:v>
                </c:pt>
                <c:pt idx="11">
                  <c:v>65</c:v>
                </c:pt>
                <c:pt idx="12">
                  <c:v>71</c:v>
                </c:pt>
                <c:pt idx="13">
                  <c:v>80</c:v>
                </c:pt>
                <c:pt idx="14">
                  <c:v>118</c:v>
                </c:pt>
                <c:pt idx="15">
                  <c:v>138</c:v>
                </c:pt>
                <c:pt idx="16">
                  <c:v>145</c:v>
                </c:pt>
                <c:pt idx="17">
                  <c:v>150</c:v>
                </c:pt>
                <c:pt idx="18">
                  <c:v>165</c:v>
                </c:pt>
                <c:pt idx="19">
                  <c:v>180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9525" cap="flat">
              <a:solidFill>
                <a:srgbClr val="E3E1E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Actual Revenue (₹ Cr)</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6B6B7B"/>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9525" cap="flat">
              <a:solidFill>
                <a:srgbClr val="E3E1E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Predicted Revenue (₹ Cr)</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6B6B7B"/>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A1A2E"/>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20"/>
        </a:solidFill>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1E1E2E"/>
          </a:solidFill>
          <a:ln/>
        </p:spPr>
      </p:sp>
      <p:sp>
        <p:nvSpPr>
          <p:cNvPr id="3" name="Shape 1"/>
          <p:cNvSpPr/>
          <p:nvPr/>
        </p:nvSpPr>
        <p:spPr>
          <a:xfrm>
            <a:off x="-1645920" y="4206240"/>
            <a:ext cx="3840480" cy="3840480"/>
          </a:xfrm>
          <a:prstGeom prst="ellipse">
            <a:avLst/>
          </a:prstGeom>
          <a:solidFill>
            <a:srgbClr val="1E1E2E"/>
          </a:solidFill>
          <a:ln/>
        </p:spPr>
      </p:sp>
      <p:sp>
        <p:nvSpPr>
          <p:cNvPr id="4" name="Shape 2"/>
          <p:cNvSpPr/>
          <p:nvPr/>
        </p:nvSpPr>
        <p:spPr>
          <a:xfrm>
            <a:off x="10607040" y="4480560"/>
            <a:ext cx="2377440" cy="2377440"/>
          </a:xfrm>
          <a:prstGeom prst="ellipse">
            <a:avLst/>
          </a:prstGeom>
          <a:solidFill>
            <a:srgbClr val="8B1E3F"/>
          </a:solidFill>
          <a:ln/>
        </p:spPr>
      </p:sp>
      <p:sp>
        <p:nvSpPr>
          <p:cNvPr id="5" name="Text 3"/>
          <p:cNvSpPr/>
          <p:nvPr/>
        </p:nvSpPr>
        <p:spPr>
          <a:xfrm>
            <a:off x="822960" y="1965960"/>
            <a:ext cx="8229600" cy="365760"/>
          </a:xfrm>
          <a:prstGeom prst="rect">
            <a:avLst/>
          </a:prstGeom>
          <a:noFill/>
          <a:ln/>
        </p:spPr>
        <p:txBody>
          <a:bodyPr wrap="square" rtlCol="0" anchor="ctr"/>
          <a:lstStyle/>
          <a:p>
            <a:pPr indent="0" marL="0">
              <a:buNone/>
            </a:pPr>
            <a:r>
              <a:rPr lang="en-US" sz="1300" b="1" spc="300" kern="0" dirty="0">
                <a:solidFill>
                  <a:srgbClr val="D4AF37"/>
                </a:solidFill>
                <a:latin typeface="Calibri" pitchFamily="34" charset="0"/>
                <a:ea typeface="Calibri" pitchFamily="34" charset="-122"/>
                <a:cs typeface="Calibri" pitchFamily="34" charset="-120"/>
              </a:rPr>
              <a:t>MACHINE LEARNING  ·  REGRESSION ANALYTICS</a:t>
            </a:r>
            <a:endParaRPr lang="en-US" sz="1300" dirty="0"/>
          </a:p>
        </p:txBody>
      </p:sp>
      <p:sp>
        <p:nvSpPr>
          <p:cNvPr id="6" name="Text 4"/>
          <p:cNvSpPr/>
          <p:nvPr/>
        </p:nvSpPr>
        <p:spPr>
          <a:xfrm>
            <a:off x="777240" y="2331720"/>
            <a:ext cx="9601200" cy="1828800"/>
          </a:xfrm>
          <a:prstGeom prst="rect">
            <a:avLst/>
          </a:prstGeom>
          <a:noFill/>
          <a:ln/>
        </p:spPr>
        <p:txBody>
          <a:bodyPr wrap="square" rtlCol="0" anchor="ctr"/>
          <a:lstStyle/>
          <a:p>
            <a:pPr indent="0" marL="0">
              <a:lnSpc>
                <a:spcPct val="102000"/>
              </a:lnSpc>
              <a:buNone/>
            </a:pPr>
            <a:r>
              <a:rPr lang="en-US" sz="5000" b="1" dirty="0">
                <a:solidFill>
                  <a:srgbClr val="FFFFFF"/>
                </a:solidFill>
                <a:latin typeface="Cambria" pitchFamily="34" charset="0"/>
                <a:ea typeface="Cambria" pitchFamily="34" charset="-122"/>
                <a:cs typeface="Cambria" pitchFamily="34" charset="-120"/>
              </a:rPr>
              <a:t>Box Office Revenue</a:t>
            </a:r>
            <a:endParaRPr lang="en-US" sz="5000" dirty="0"/>
          </a:p>
          <a:p>
            <a:pPr indent="0" marL="0">
              <a:lnSpc>
                <a:spcPct val="102000"/>
              </a:lnSpc>
              <a:buNone/>
            </a:pPr>
            <a:r>
              <a:rPr lang="en-US" sz="5000" b="1" dirty="0">
                <a:solidFill>
                  <a:srgbClr val="FFFFFF"/>
                </a:solidFill>
                <a:latin typeface="Cambria" pitchFamily="34" charset="0"/>
                <a:ea typeface="Cambria" pitchFamily="34" charset="-122"/>
                <a:cs typeface="Cambria" pitchFamily="34" charset="-120"/>
              </a:rPr>
              <a:t>Prediction</a:t>
            </a:r>
            <a:endParaRPr lang="en-US" sz="5000" dirty="0"/>
          </a:p>
        </p:txBody>
      </p:sp>
      <p:sp>
        <p:nvSpPr>
          <p:cNvPr id="7" name="Text 5"/>
          <p:cNvSpPr/>
          <p:nvPr/>
        </p:nvSpPr>
        <p:spPr>
          <a:xfrm>
            <a:off x="822960" y="4160520"/>
            <a:ext cx="8686800" cy="731520"/>
          </a:xfrm>
          <a:prstGeom prst="rect">
            <a:avLst/>
          </a:prstGeom>
          <a:noFill/>
          <a:ln/>
        </p:spPr>
        <p:txBody>
          <a:bodyPr wrap="square" rtlCol="0" anchor="ctr"/>
          <a:lstStyle/>
          <a:p>
            <a:pPr indent="0" marL="0">
              <a:lnSpc>
                <a:spcPct val="125000"/>
              </a:lnSpc>
              <a:buNone/>
            </a:pPr>
            <a:r>
              <a:rPr lang="en-US" sz="1500" dirty="0">
                <a:solidFill>
                  <a:srgbClr val="C7C6D6"/>
                </a:solidFill>
                <a:latin typeface="Calibri" pitchFamily="34" charset="0"/>
                <a:ea typeface="Calibri" pitchFamily="34" charset="-122"/>
                <a:cs typeface="Calibri" pitchFamily="34" charset="-120"/>
              </a:rPr>
              <a:t>Forecasting Indian film revenue from pre-release signals using an</a:t>
            </a:r>
            <a:endParaRPr lang="en-US" sz="1500" dirty="0"/>
          </a:p>
          <a:p>
            <a:pPr indent="0" marL="0">
              <a:lnSpc>
                <a:spcPct val="125000"/>
              </a:lnSpc>
              <a:buNone/>
            </a:pPr>
            <a:r>
              <a:rPr lang="en-US" sz="1500" dirty="0">
                <a:solidFill>
                  <a:srgbClr val="C7C6D6"/>
                </a:solidFill>
                <a:latin typeface="Calibri" pitchFamily="34" charset="0"/>
                <a:ea typeface="Calibri" pitchFamily="34" charset="-122"/>
                <a:cs typeface="Calibri" pitchFamily="34" charset="-120"/>
              </a:rPr>
              <a:t>Elastic Net regression pipeline</a:t>
            </a:r>
            <a:endParaRPr lang="en-US" sz="1500" dirty="0"/>
          </a:p>
        </p:txBody>
      </p:sp>
      <p:sp>
        <p:nvSpPr>
          <p:cNvPr id="8" name="Shape 6"/>
          <p:cNvSpPr/>
          <p:nvPr/>
        </p:nvSpPr>
        <p:spPr>
          <a:xfrm>
            <a:off x="822960" y="5074920"/>
            <a:ext cx="1005840" cy="0"/>
          </a:xfrm>
          <a:prstGeom prst="line">
            <a:avLst/>
          </a:prstGeom>
          <a:noFill/>
          <a:ln w="31750">
            <a:solidFill>
              <a:srgbClr val="D4AF37"/>
            </a:solidFill>
            <a:prstDash val="solid"/>
          </a:ln>
        </p:spPr>
      </p:sp>
      <p:sp>
        <p:nvSpPr>
          <p:cNvPr id="9" name="Text 7"/>
          <p:cNvSpPr/>
          <p:nvPr/>
        </p:nvSpPr>
        <p:spPr>
          <a:xfrm>
            <a:off x="822960" y="5349240"/>
            <a:ext cx="9601200" cy="457200"/>
          </a:xfrm>
          <a:prstGeom prst="rect">
            <a:avLst/>
          </a:prstGeom>
          <a:noFill/>
          <a:ln/>
        </p:spPr>
        <p:txBody>
          <a:bodyPr wrap="square" rtlCol="0" anchor="ctr"/>
          <a:lstStyle/>
          <a:p>
            <a:pPr indent="0" marL="0">
              <a:buNone/>
            </a:pPr>
            <a:r>
              <a:rPr lang="en-US" sz="1250" dirty="0">
                <a:solidFill>
                  <a:srgbClr val="C7C6D6"/>
                </a:solidFill>
                <a:latin typeface="Calibri" pitchFamily="34" charset="0"/>
                <a:ea typeface="Calibri" pitchFamily="34" charset="-122"/>
                <a:cs typeface="Calibri" pitchFamily="34" charset="-120"/>
              </a:rPr>
              <a:t>1,696 films analysed   </a:t>
            </a:r>
            <a:pPr indent="0" marL="0">
              <a:buNone/>
            </a:pPr>
            <a:r>
              <a:rPr lang="en-US" sz="1250" dirty="0">
                <a:solidFill>
                  <a:srgbClr val="555568"/>
                </a:solidFill>
                <a:latin typeface="Calibri" pitchFamily="34" charset="0"/>
                <a:ea typeface="Calibri" pitchFamily="34" charset="-122"/>
                <a:cs typeface="Calibri" pitchFamily="34" charset="-120"/>
              </a:rPr>
              <a:t>|   </a:t>
            </a:r>
            <a:pPr indent="0" marL="0">
              <a:buNone/>
            </a:pPr>
            <a:r>
              <a:rPr lang="en-US" sz="1250" dirty="0">
                <a:solidFill>
                  <a:srgbClr val="C7C6D6"/>
                </a:solidFill>
                <a:latin typeface="Calibri" pitchFamily="34" charset="0"/>
                <a:ea typeface="Calibri" pitchFamily="34" charset="-122"/>
                <a:cs typeface="Calibri" pitchFamily="34" charset="-120"/>
              </a:rPr>
              <a:t>2,460 engineered features   </a:t>
            </a:r>
            <a:pPr indent="0" marL="0">
              <a:buNone/>
            </a:pPr>
            <a:r>
              <a:rPr lang="en-US" sz="1250" dirty="0">
                <a:solidFill>
                  <a:srgbClr val="555568"/>
                </a:solidFill>
                <a:latin typeface="Calibri" pitchFamily="34" charset="0"/>
                <a:ea typeface="Calibri" pitchFamily="34" charset="-122"/>
                <a:cs typeface="Calibri" pitchFamily="34" charset="-120"/>
              </a:rPr>
              <a:t>|   </a:t>
            </a:r>
            <a:pPr indent="0" marL="0">
              <a:buNone/>
            </a:pPr>
            <a:r>
              <a:rPr lang="en-US" sz="1250" b="1" dirty="0">
                <a:solidFill>
                  <a:srgbClr val="D4AF37"/>
                </a:solidFill>
                <a:latin typeface="Calibri" pitchFamily="34" charset="0"/>
                <a:ea typeface="Calibri" pitchFamily="34" charset="-122"/>
                <a:cs typeface="Calibri" pitchFamily="34" charset="-120"/>
              </a:rPr>
              <a:t>R² = 0.79 on holdout test set</a:t>
            </a:r>
            <a:endParaRPr lang="en-US" sz="1250" dirty="0"/>
          </a:p>
        </p:txBody>
      </p:sp>
      <p:sp>
        <p:nvSpPr>
          <p:cNvPr id="10" name="Text 8"/>
          <p:cNvSpPr/>
          <p:nvPr/>
        </p:nvSpPr>
        <p:spPr>
          <a:xfrm>
            <a:off x="822960" y="6172200"/>
            <a:ext cx="5486400" cy="320040"/>
          </a:xfrm>
          <a:prstGeom prst="rect">
            <a:avLst/>
          </a:prstGeom>
          <a:noFill/>
          <a:ln/>
        </p:spPr>
        <p:txBody>
          <a:bodyPr wrap="square" rtlCol="0" anchor="ctr"/>
          <a:lstStyle/>
          <a:p>
            <a:pPr indent="0" marL="0">
              <a:buNone/>
            </a:pPr>
            <a:r>
              <a:rPr lang="en-US" sz="1100" i="1" dirty="0">
                <a:solidFill>
                  <a:srgbClr val="8A8A9A"/>
                </a:solidFill>
                <a:latin typeface="Calibri" pitchFamily="34" charset="0"/>
                <a:ea typeface="Calibri" pitchFamily="34" charset="-122"/>
                <a:cs typeface="Calibri" pitchFamily="34" charset="-120"/>
              </a:rPr>
              <a:t>End-to-End CRISP-DM Case Study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What This Deck Covers</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A ten-stage pipeline, from raw scrape to a live prediction app</a:t>
            </a:r>
            <a:endParaRPr lang="en-US" sz="1350" dirty="0"/>
          </a:p>
        </p:txBody>
      </p:sp>
      <p:sp>
        <p:nvSpPr>
          <p:cNvPr id="5" name="Shape 3"/>
          <p:cNvSpPr/>
          <p:nvPr/>
        </p:nvSpPr>
        <p:spPr>
          <a:xfrm>
            <a:off x="457200" y="1828800"/>
            <a:ext cx="5440680" cy="731520"/>
          </a:xfrm>
          <a:prstGeom prst="roundRect">
            <a:avLst>
              <a:gd name="adj" fmla="val 7500"/>
            </a:avLst>
          </a:prstGeom>
          <a:solidFill>
            <a:srgbClr val="F2F1F5"/>
          </a:solidFill>
          <a:ln w="9525">
            <a:solidFill>
              <a:srgbClr val="E3E1E8"/>
            </a:solidFill>
            <a:prstDash val="solid"/>
          </a:ln>
        </p:spPr>
      </p:sp>
      <p:sp>
        <p:nvSpPr>
          <p:cNvPr id="6" name="Text 4"/>
          <p:cNvSpPr/>
          <p:nvPr/>
        </p:nvSpPr>
        <p:spPr>
          <a:xfrm>
            <a:off x="594360" y="1901952"/>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01</a:t>
            </a:r>
            <a:endParaRPr lang="en-US" sz="2400" dirty="0"/>
          </a:p>
        </p:txBody>
      </p:sp>
      <p:sp>
        <p:nvSpPr>
          <p:cNvPr id="7" name="Shape 5"/>
          <p:cNvSpPr/>
          <p:nvPr/>
        </p:nvSpPr>
        <p:spPr>
          <a:xfrm>
            <a:off x="1417320" y="1956816"/>
            <a:ext cx="0" cy="475488"/>
          </a:xfrm>
          <a:prstGeom prst="line">
            <a:avLst/>
          </a:prstGeom>
          <a:noFill/>
          <a:ln w="12700">
            <a:solidFill>
              <a:srgbClr val="E3E1E8"/>
            </a:solidFill>
            <a:prstDash val="solid"/>
          </a:ln>
        </p:spPr>
      </p:sp>
      <p:sp>
        <p:nvSpPr>
          <p:cNvPr id="8" name="Text 6"/>
          <p:cNvSpPr/>
          <p:nvPr/>
        </p:nvSpPr>
        <p:spPr>
          <a:xfrm>
            <a:off x="1554480" y="1920240"/>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Problem &amp; Objective</a:t>
            </a:r>
            <a:endParaRPr lang="en-US" sz="1300" dirty="0"/>
          </a:p>
        </p:txBody>
      </p:sp>
      <p:sp>
        <p:nvSpPr>
          <p:cNvPr id="9" name="Text 7"/>
          <p:cNvSpPr/>
          <p:nvPr/>
        </p:nvSpPr>
        <p:spPr>
          <a:xfrm>
            <a:off x="1554480" y="2249424"/>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Why box-office revenue is hard to forecast</a:t>
            </a:r>
            <a:endParaRPr lang="en-US" sz="1050" dirty="0"/>
          </a:p>
        </p:txBody>
      </p:sp>
      <p:sp>
        <p:nvSpPr>
          <p:cNvPr id="10" name="Shape 8"/>
          <p:cNvSpPr/>
          <p:nvPr/>
        </p:nvSpPr>
        <p:spPr>
          <a:xfrm>
            <a:off x="6281928" y="1828800"/>
            <a:ext cx="5440680" cy="731520"/>
          </a:xfrm>
          <a:prstGeom prst="roundRect">
            <a:avLst>
              <a:gd name="adj" fmla="val 7500"/>
            </a:avLst>
          </a:prstGeom>
          <a:solidFill>
            <a:srgbClr val="F2F1F5"/>
          </a:solidFill>
          <a:ln w="9525">
            <a:solidFill>
              <a:srgbClr val="E3E1E8"/>
            </a:solidFill>
            <a:prstDash val="solid"/>
          </a:ln>
        </p:spPr>
      </p:sp>
      <p:sp>
        <p:nvSpPr>
          <p:cNvPr id="11" name="Text 9"/>
          <p:cNvSpPr/>
          <p:nvPr/>
        </p:nvSpPr>
        <p:spPr>
          <a:xfrm>
            <a:off x="6419088" y="1901952"/>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02</a:t>
            </a:r>
            <a:endParaRPr lang="en-US" sz="2400" dirty="0"/>
          </a:p>
        </p:txBody>
      </p:sp>
      <p:sp>
        <p:nvSpPr>
          <p:cNvPr id="12" name="Shape 10"/>
          <p:cNvSpPr/>
          <p:nvPr/>
        </p:nvSpPr>
        <p:spPr>
          <a:xfrm>
            <a:off x="7242048" y="1956816"/>
            <a:ext cx="0" cy="475488"/>
          </a:xfrm>
          <a:prstGeom prst="line">
            <a:avLst/>
          </a:prstGeom>
          <a:noFill/>
          <a:ln w="12700">
            <a:solidFill>
              <a:srgbClr val="E3E1E8"/>
            </a:solidFill>
            <a:prstDash val="solid"/>
          </a:ln>
        </p:spPr>
      </p:sp>
      <p:sp>
        <p:nvSpPr>
          <p:cNvPr id="13" name="Text 11"/>
          <p:cNvSpPr/>
          <p:nvPr/>
        </p:nvSpPr>
        <p:spPr>
          <a:xfrm>
            <a:off x="7379208" y="1920240"/>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Data Collection &amp; Understanding</a:t>
            </a:r>
            <a:endParaRPr lang="en-US" sz="1300" dirty="0"/>
          </a:p>
        </p:txBody>
      </p:sp>
      <p:sp>
        <p:nvSpPr>
          <p:cNvPr id="14" name="Text 12"/>
          <p:cNvSpPr/>
          <p:nvPr/>
        </p:nvSpPr>
        <p:spPr>
          <a:xfrm>
            <a:off x="7379208" y="2249424"/>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1,698 Indian films, 14 raw attributes</a:t>
            </a:r>
            <a:endParaRPr lang="en-US" sz="1050" dirty="0"/>
          </a:p>
        </p:txBody>
      </p:sp>
      <p:sp>
        <p:nvSpPr>
          <p:cNvPr id="15" name="Shape 13"/>
          <p:cNvSpPr/>
          <p:nvPr/>
        </p:nvSpPr>
        <p:spPr>
          <a:xfrm>
            <a:off x="457200" y="2688336"/>
            <a:ext cx="5440680" cy="731520"/>
          </a:xfrm>
          <a:prstGeom prst="roundRect">
            <a:avLst>
              <a:gd name="adj" fmla="val 7500"/>
            </a:avLst>
          </a:prstGeom>
          <a:solidFill>
            <a:srgbClr val="F2F1F5"/>
          </a:solidFill>
          <a:ln w="9525">
            <a:solidFill>
              <a:srgbClr val="E3E1E8"/>
            </a:solidFill>
            <a:prstDash val="solid"/>
          </a:ln>
        </p:spPr>
      </p:sp>
      <p:sp>
        <p:nvSpPr>
          <p:cNvPr id="16" name="Text 14"/>
          <p:cNvSpPr/>
          <p:nvPr/>
        </p:nvSpPr>
        <p:spPr>
          <a:xfrm>
            <a:off x="594360" y="2761488"/>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03</a:t>
            </a:r>
            <a:endParaRPr lang="en-US" sz="2400" dirty="0"/>
          </a:p>
        </p:txBody>
      </p:sp>
      <p:sp>
        <p:nvSpPr>
          <p:cNvPr id="17" name="Shape 15"/>
          <p:cNvSpPr/>
          <p:nvPr/>
        </p:nvSpPr>
        <p:spPr>
          <a:xfrm>
            <a:off x="1417320" y="2816352"/>
            <a:ext cx="0" cy="475488"/>
          </a:xfrm>
          <a:prstGeom prst="line">
            <a:avLst/>
          </a:prstGeom>
          <a:noFill/>
          <a:ln w="12700">
            <a:solidFill>
              <a:srgbClr val="E3E1E8"/>
            </a:solidFill>
            <a:prstDash val="solid"/>
          </a:ln>
        </p:spPr>
      </p:sp>
      <p:sp>
        <p:nvSpPr>
          <p:cNvPr id="18" name="Text 16"/>
          <p:cNvSpPr/>
          <p:nvPr/>
        </p:nvSpPr>
        <p:spPr>
          <a:xfrm>
            <a:off x="1554480" y="2779776"/>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Preprocessing &amp; Cleaning</a:t>
            </a:r>
            <a:endParaRPr lang="en-US" sz="1300" dirty="0"/>
          </a:p>
        </p:txBody>
      </p:sp>
      <p:sp>
        <p:nvSpPr>
          <p:cNvPr id="19" name="Text 17"/>
          <p:cNvSpPr/>
          <p:nvPr/>
        </p:nvSpPr>
        <p:spPr>
          <a:xfrm>
            <a:off x="1554480" y="3108960"/>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Duplicates, missing values, outliers</a:t>
            </a:r>
            <a:endParaRPr lang="en-US" sz="1050" dirty="0"/>
          </a:p>
        </p:txBody>
      </p:sp>
      <p:sp>
        <p:nvSpPr>
          <p:cNvPr id="20" name="Shape 18"/>
          <p:cNvSpPr/>
          <p:nvPr/>
        </p:nvSpPr>
        <p:spPr>
          <a:xfrm>
            <a:off x="6281928" y="2688336"/>
            <a:ext cx="5440680" cy="731520"/>
          </a:xfrm>
          <a:prstGeom prst="roundRect">
            <a:avLst>
              <a:gd name="adj" fmla="val 7500"/>
            </a:avLst>
          </a:prstGeom>
          <a:solidFill>
            <a:srgbClr val="F2F1F5"/>
          </a:solidFill>
          <a:ln w="9525">
            <a:solidFill>
              <a:srgbClr val="E3E1E8"/>
            </a:solidFill>
            <a:prstDash val="solid"/>
          </a:ln>
        </p:spPr>
      </p:sp>
      <p:sp>
        <p:nvSpPr>
          <p:cNvPr id="21" name="Text 19"/>
          <p:cNvSpPr/>
          <p:nvPr/>
        </p:nvSpPr>
        <p:spPr>
          <a:xfrm>
            <a:off x="6419088" y="2761488"/>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04</a:t>
            </a:r>
            <a:endParaRPr lang="en-US" sz="2400" dirty="0"/>
          </a:p>
        </p:txBody>
      </p:sp>
      <p:sp>
        <p:nvSpPr>
          <p:cNvPr id="22" name="Shape 20"/>
          <p:cNvSpPr/>
          <p:nvPr/>
        </p:nvSpPr>
        <p:spPr>
          <a:xfrm>
            <a:off x="7242048" y="2816352"/>
            <a:ext cx="0" cy="475488"/>
          </a:xfrm>
          <a:prstGeom prst="line">
            <a:avLst/>
          </a:prstGeom>
          <a:noFill/>
          <a:ln w="12700">
            <a:solidFill>
              <a:srgbClr val="E3E1E8"/>
            </a:solidFill>
            <a:prstDash val="solid"/>
          </a:ln>
        </p:spPr>
      </p:sp>
      <p:sp>
        <p:nvSpPr>
          <p:cNvPr id="23" name="Text 21"/>
          <p:cNvSpPr/>
          <p:nvPr/>
        </p:nvSpPr>
        <p:spPr>
          <a:xfrm>
            <a:off x="7379208" y="2779776"/>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Exploratory Data Analysis</a:t>
            </a:r>
            <a:endParaRPr lang="en-US" sz="1300" dirty="0"/>
          </a:p>
        </p:txBody>
      </p:sp>
      <p:sp>
        <p:nvSpPr>
          <p:cNvPr id="24" name="Text 22"/>
          <p:cNvSpPr/>
          <p:nvPr/>
        </p:nvSpPr>
        <p:spPr>
          <a:xfrm>
            <a:off x="7379208" y="3108960"/>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Distributions, correlations, category effects</a:t>
            </a:r>
            <a:endParaRPr lang="en-US" sz="1050" dirty="0"/>
          </a:p>
        </p:txBody>
      </p:sp>
      <p:sp>
        <p:nvSpPr>
          <p:cNvPr id="25" name="Shape 23"/>
          <p:cNvSpPr/>
          <p:nvPr/>
        </p:nvSpPr>
        <p:spPr>
          <a:xfrm>
            <a:off x="457200" y="3547872"/>
            <a:ext cx="5440680" cy="731520"/>
          </a:xfrm>
          <a:prstGeom prst="roundRect">
            <a:avLst>
              <a:gd name="adj" fmla="val 7500"/>
            </a:avLst>
          </a:prstGeom>
          <a:solidFill>
            <a:srgbClr val="F2F1F5"/>
          </a:solidFill>
          <a:ln w="9525">
            <a:solidFill>
              <a:srgbClr val="E3E1E8"/>
            </a:solidFill>
            <a:prstDash val="solid"/>
          </a:ln>
        </p:spPr>
      </p:sp>
      <p:sp>
        <p:nvSpPr>
          <p:cNvPr id="26" name="Text 24"/>
          <p:cNvSpPr/>
          <p:nvPr/>
        </p:nvSpPr>
        <p:spPr>
          <a:xfrm>
            <a:off x="594360" y="3621024"/>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05</a:t>
            </a:r>
            <a:endParaRPr lang="en-US" sz="2400" dirty="0"/>
          </a:p>
        </p:txBody>
      </p:sp>
      <p:sp>
        <p:nvSpPr>
          <p:cNvPr id="27" name="Shape 25"/>
          <p:cNvSpPr/>
          <p:nvPr/>
        </p:nvSpPr>
        <p:spPr>
          <a:xfrm>
            <a:off x="1417320" y="3675888"/>
            <a:ext cx="0" cy="475488"/>
          </a:xfrm>
          <a:prstGeom prst="line">
            <a:avLst/>
          </a:prstGeom>
          <a:noFill/>
          <a:ln w="12700">
            <a:solidFill>
              <a:srgbClr val="E3E1E8"/>
            </a:solidFill>
            <a:prstDash val="solid"/>
          </a:ln>
        </p:spPr>
      </p:sp>
      <p:sp>
        <p:nvSpPr>
          <p:cNvPr id="28" name="Text 26"/>
          <p:cNvSpPr/>
          <p:nvPr/>
        </p:nvSpPr>
        <p:spPr>
          <a:xfrm>
            <a:off x="1554480" y="3639312"/>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Feature Engineering</a:t>
            </a:r>
            <a:endParaRPr lang="en-US" sz="1300" dirty="0"/>
          </a:p>
        </p:txBody>
      </p:sp>
      <p:sp>
        <p:nvSpPr>
          <p:cNvPr id="29" name="Text 27"/>
          <p:cNvSpPr/>
          <p:nvPr/>
        </p:nvSpPr>
        <p:spPr>
          <a:xfrm>
            <a:off x="1554480" y="3968496"/>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One-hot encoding to 2,460 model features</a:t>
            </a:r>
            <a:endParaRPr lang="en-US" sz="1050" dirty="0"/>
          </a:p>
        </p:txBody>
      </p:sp>
      <p:sp>
        <p:nvSpPr>
          <p:cNvPr id="30" name="Shape 28"/>
          <p:cNvSpPr/>
          <p:nvPr/>
        </p:nvSpPr>
        <p:spPr>
          <a:xfrm>
            <a:off x="6281928" y="3547872"/>
            <a:ext cx="5440680" cy="731520"/>
          </a:xfrm>
          <a:prstGeom prst="roundRect">
            <a:avLst>
              <a:gd name="adj" fmla="val 7500"/>
            </a:avLst>
          </a:prstGeom>
          <a:solidFill>
            <a:srgbClr val="F2F1F5"/>
          </a:solidFill>
          <a:ln w="9525">
            <a:solidFill>
              <a:srgbClr val="E3E1E8"/>
            </a:solidFill>
            <a:prstDash val="solid"/>
          </a:ln>
        </p:spPr>
      </p:sp>
      <p:sp>
        <p:nvSpPr>
          <p:cNvPr id="31" name="Text 29"/>
          <p:cNvSpPr/>
          <p:nvPr/>
        </p:nvSpPr>
        <p:spPr>
          <a:xfrm>
            <a:off x="6419088" y="3621024"/>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06</a:t>
            </a:r>
            <a:endParaRPr lang="en-US" sz="2400" dirty="0"/>
          </a:p>
        </p:txBody>
      </p:sp>
      <p:sp>
        <p:nvSpPr>
          <p:cNvPr id="32" name="Shape 30"/>
          <p:cNvSpPr/>
          <p:nvPr/>
        </p:nvSpPr>
        <p:spPr>
          <a:xfrm>
            <a:off x="7242048" y="3675888"/>
            <a:ext cx="0" cy="475488"/>
          </a:xfrm>
          <a:prstGeom prst="line">
            <a:avLst/>
          </a:prstGeom>
          <a:noFill/>
          <a:ln w="12700">
            <a:solidFill>
              <a:srgbClr val="E3E1E8"/>
            </a:solidFill>
            <a:prstDash val="solid"/>
          </a:ln>
        </p:spPr>
      </p:sp>
      <p:sp>
        <p:nvSpPr>
          <p:cNvPr id="33" name="Text 31"/>
          <p:cNvSpPr/>
          <p:nvPr/>
        </p:nvSpPr>
        <p:spPr>
          <a:xfrm>
            <a:off x="7379208" y="3639312"/>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Train / Test Split</a:t>
            </a:r>
            <a:endParaRPr lang="en-US" sz="1300" dirty="0"/>
          </a:p>
        </p:txBody>
      </p:sp>
      <p:sp>
        <p:nvSpPr>
          <p:cNvPr id="34" name="Text 32"/>
          <p:cNvSpPr/>
          <p:nvPr/>
        </p:nvSpPr>
        <p:spPr>
          <a:xfrm>
            <a:off x="7379208" y="3968496"/>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80 / 20 split, 1,356 vs 340 films</a:t>
            </a:r>
            <a:endParaRPr lang="en-US" sz="1050" dirty="0"/>
          </a:p>
        </p:txBody>
      </p:sp>
      <p:sp>
        <p:nvSpPr>
          <p:cNvPr id="35" name="Shape 33"/>
          <p:cNvSpPr/>
          <p:nvPr/>
        </p:nvSpPr>
        <p:spPr>
          <a:xfrm>
            <a:off x="457200" y="4407408"/>
            <a:ext cx="5440680" cy="731520"/>
          </a:xfrm>
          <a:prstGeom prst="roundRect">
            <a:avLst>
              <a:gd name="adj" fmla="val 7500"/>
            </a:avLst>
          </a:prstGeom>
          <a:solidFill>
            <a:srgbClr val="F2F1F5"/>
          </a:solidFill>
          <a:ln w="9525">
            <a:solidFill>
              <a:srgbClr val="E3E1E8"/>
            </a:solidFill>
            <a:prstDash val="solid"/>
          </a:ln>
        </p:spPr>
      </p:sp>
      <p:sp>
        <p:nvSpPr>
          <p:cNvPr id="36" name="Text 34"/>
          <p:cNvSpPr/>
          <p:nvPr/>
        </p:nvSpPr>
        <p:spPr>
          <a:xfrm>
            <a:off x="594360" y="4480560"/>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07</a:t>
            </a:r>
            <a:endParaRPr lang="en-US" sz="2400" dirty="0"/>
          </a:p>
        </p:txBody>
      </p:sp>
      <p:sp>
        <p:nvSpPr>
          <p:cNvPr id="37" name="Shape 35"/>
          <p:cNvSpPr/>
          <p:nvPr/>
        </p:nvSpPr>
        <p:spPr>
          <a:xfrm>
            <a:off x="1417320" y="4535424"/>
            <a:ext cx="0" cy="475488"/>
          </a:xfrm>
          <a:prstGeom prst="line">
            <a:avLst/>
          </a:prstGeom>
          <a:noFill/>
          <a:ln w="12700">
            <a:solidFill>
              <a:srgbClr val="E3E1E8"/>
            </a:solidFill>
            <a:prstDash val="solid"/>
          </a:ln>
        </p:spPr>
      </p:sp>
      <p:sp>
        <p:nvSpPr>
          <p:cNvPr id="38" name="Text 36"/>
          <p:cNvSpPr/>
          <p:nvPr/>
        </p:nvSpPr>
        <p:spPr>
          <a:xfrm>
            <a:off x="1554480" y="4498848"/>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Model Building</a:t>
            </a:r>
            <a:endParaRPr lang="en-US" sz="1300" dirty="0"/>
          </a:p>
        </p:txBody>
      </p:sp>
      <p:sp>
        <p:nvSpPr>
          <p:cNvPr id="39" name="Text 37"/>
          <p:cNvSpPr/>
          <p:nvPr/>
        </p:nvSpPr>
        <p:spPr>
          <a:xfrm>
            <a:off x="1554480" y="4828032"/>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Elastic Net Regression pipeline</a:t>
            </a:r>
            <a:endParaRPr lang="en-US" sz="1050" dirty="0"/>
          </a:p>
        </p:txBody>
      </p:sp>
      <p:sp>
        <p:nvSpPr>
          <p:cNvPr id="40" name="Shape 38"/>
          <p:cNvSpPr/>
          <p:nvPr/>
        </p:nvSpPr>
        <p:spPr>
          <a:xfrm>
            <a:off x="6281928" y="4407408"/>
            <a:ext cx="5440680" cy="731520"/>
          </a:xfrm>
          <a:prstGeom prst="roundRect">
            <a:avLst>
              <a:gd name="adj" fmla="val 7500"/>
            </a:avLst>
          </a:prstGeom>
          <a:solidFill>
            <a:srgbClr val="F2F1F5"/>
          </a:solidFill>
          <a:ln w="9525">
            <a:solidFill>
              <a:srgbClr val="E3E1E8"/>
            </a:solidFill>
            <a:prstDash val="solid"/>
          </a:ln>
        </p:spPr>
      </p:sp>
      <p:sp>
        <p:nvSpPr>
          <p:cNvPr id="41" name="Text 39"/>
          <p:cNvSpPr/>
          <p:nvPr/>
        </p:nvSpPr>
        <p:spPr>
          <a:xfrm>
            <a:off x="6419088" y="4480560"/>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08</a:t>
            </a:r>
            <a:endParaRPr lang="en-US" sz="2400" dirty="0"/>
          </a:p>
        </p:txBody>
      </p:sp>
      <p:sp>
        <p:nvSpPr>
          <p:cNvPr id="42" name="Shape 40"/>
          <p:cNvSpPr/>
          <p:nvPr/>
        </p:nvSpPr>
        <p:spPr>
          <a:xfrm>
            <a:off x="7242048" y="4535424"/>
            <a:ext cx="0" cy="475488"/>
          </a:xfrm>
          <a:prstGeom prst="line">
            <a:avLst/>
          </a:prstGeom>
          <a:noFill/>
          <a:ln w="12700">
            <a:solidFill>
              <a:srgbClr val="E3E1E8"/>
            </a:solidFill>
            <a:prstDash val="solid"/>
          </a:ln>
        </p:spPr>
      </p:sp>
      <p:sp>
        <p:nvSpPr>
          <p:cNvPr id="43" name="Text 41"/>
          <p:cNvSpPr/>
          <p:nvPr/>
        </p:nvSpPr>
        <p:spPr>
          <a:xfrm>
            <a:off x="7379208" y="4498848"/>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Evaluation &amp; Diagnostics</a:t>
            </a:r>
            <a:endParaRPr lang="en-US" sz="1300" dirty="0"/>
          </a:p>
        </p:txBody>
      </p:sp>
      <p:sp>
        <p:nvSpPr>
          <p:cNvPr id="44" name="Text 42"/>
          <p:cNvSpPr/>
          <p:nvPr/>
        </p:nvSpPr>
        <p:spPr>
          <a:xfrm>
            <a:off x="7379208" y="4828032"/>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MAE, RMSE, R², residual analysis</a:t>
            </a:r>
            <a:endParaRPr lang="en-US" sz="1050" dirty="0"/>
          </a:p>
        </p:txBody>
      </p:sp>
      <p:sp>
        <p:nvSpPr>
          <p:cNvPr id="45" name="Shape 43"/>
          <p:cNvSpPr/>
          <p:nvPr/>
        </p:nvSpPr>
        <p:spPr>
          <a:xfrm>
            <a:off x="457200" y="5266944"/>
            <a:ext cx="5440680" cy="731520"/>
          </a:xfrm>
          <a:prstGeom prst="roundRect">
            <a:avLst>
              <a:gd name="adj" fmla="val 7500"/>
            </a:avLst>
          </a:prstGeom>
          <a:solidFill>
            <a:srgbClr val="F2F1F5"/>
          </a:solidFill>
          <a:ln w="9525">
            <a:solidFill>
              <a:srgbClr val="E3E1E8"/>
            </a:solidFill>
            <a:prstDash val="solid"/>
          </a:ln>
        </p:spPr>
      </p:sp>
      <p:sp>
        <p:nvSpPr>
          <p:cNvPr id="46" name="Text 44"/>
          <p:cNvSpPr/>
          <p:nvPr/>
        </p:nvSpPr>
        <p:spPr>
          <a:xfrm>
            <a:off x="594360" y="5340096"/>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09</a:t>
            </a:r>
            <a:endParaRPr lang="en-US" sz="2400" dirty="0"/>
          </a:p>
        </p:txBody>
      </p:sp>
      <p:sp>
        <p:nvSpPr>
          <p:cNvPr id="47" name="Shape 45"/>
          <p:cNvSpPr/>
          <p:nvPr/>
        </p:nvSpPr>
        <p:spPr>
          <a:xfrm>
            <a:off x="1417320" y="5394960"/>
            <a:ext cx="0" cy="475488"/>
          </a:xfrm>
          <a:prstGeom prst="line">
            <a:avLst/>
          </a:prstGeom>
          <a:noFill/>
          <a:ln w="12700">
            <a:solidFill>
              <a:srgbClr val="E3E1E8"/>
            </a:solidFill>
            <a:prstDash val="solid"/>
          </a:ln>
        </p:spPr>
      </p:sp>
      <p:sp>
        <p:nvSpPr>
          <p:cNvPr id="48" name="Text 46"/>
          <p:cNvSpPr/>
          <p:nvPr/>
        </p:nvSpPr>
        <p:spPr>
          <a:xfrm>
            <a:off x="1554480" y="5358384"/>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Model Persistence</a:t>
            </a:r>
            <a:endParaRPr lang="en-US" sz="1300" dirty="0"/>
          </a:p>
        </p:txBody>
      </p:sp>
      <p:sp>
        <p:nvSpPr>
          <p:cNvPr id="49" name="Text 47"/>
          <p:cNvSpPr/>
          <p:nvPr/>
        </p:nvSpPr>
        <p:spPr>
          <a:xfrm>
            <a:off x="1554480" y="5687568"/>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Serialising the final estimator</a:t>
            </a:r>
            <a:endParaRPr lang="en-US" sz="1050" dirty="0"/>
          </a:p>
        </p:txBody>
      </p:sp>
      <p:sp>
        <p:nvSpPr>
          <p:cNvPr id="50" name="Shape 48"/>
          <p:cNvSpPr/>
          <p:nvPr/>
        </p:nvSpPr>
        <p:spPr>
          <a:xfrm>
            <a:off x="6281928" y="5266944"/>
            <a:ext cx="5440680" cy="731520"/>
          </a:xfrm>
          <a:prstGeom prst="roundRect">
            <a:avLst>
              <a:gd name="adj" fmla="val 7500"/>
            </a:avLst>
          </a:prstGeom>
          <a:solidFill>
            <a:srgbClr val="F2F1F5"/>
          </a:solidFill>
          <a:ln w="9525">
            <a:solidFill>
              <a:srgbClr val="E3E1E8"/>
            </a:solidFill>
            <a:prstDash val="solid"/>
          </a:ln>
        </p:spPr>
      </p:sp>
      <p:sp>
        <p:nvSpPr>
          <p:cNvPr id="51" name="Text 49"/>
          <p:cNvSpPr/>
          <p:nvPr/>
        </p:nvSpPr>
        <p:spPr>
          <a:xfrm>
            <a:off x="6419088" y="5340096"/>
            <a:ext cx="777240" cy="585216"/>
          </a:xfrm>
          <a:prstGeom prst="rect">
            <a:avLst/>
          </a:prstGeom>
          <a:noFill/>
          <a:ln/>
        </p:spPr>
        <p:txBody>
          <a:bodyPr wrap="square" rtlCol="0" anchor="ctr"/>
          <a:lstStyle/>
          <a:p>
            <a:pPr algn="ctr" indent="0" marL="0">
              <a:buNone/>
            </a:pPr>
            <a:r>
              <a:rPr lang="en-US" sz="2400" b="1" dirty="0">
                <a:solidFill>
                  <a:srgbClr val="8B1E3F"/>
                </a:solidFill>
                <a:latin typeface="Cambria" pitchFamily="34" charset="0"/>
                <a:ea typeface="Cambria" pitchFamily="34" charset="-122"/>
                <a:cs typeface="Cambria" pitchFamily="34" charset="-120"/>
              </a:rPr>
              <a:t>10</a:t>
            </a:r>
            <a:endParaRPr lang="en-US" sz="2400" dirty="0"/>
          </a:p>
        </p:txBody>
      </p:sp>
      <p:sp>
        <p:nvSpPr>
          <p:cNvPr id="52" name="Shape 50"/>
          <p:cNvSpPr/>
          <p:nvPr/>
        </p:nvSpPr>
        <p:spPr>
          <a:xfrm>
            <a:off x="7242048" y="5394960"/>
            <a:ext cx="0" cy="475488"/>
          </a:xfrm>
          <a:prstGeom prst="line">
            <a:avLst/>
          </a:prstGeom>
          <a:noFill/>
          <a:ln w="12700">
            <a:solidFill>
              <a:srgbClr val="E3E1E8"/>
            </a:solidFill>
            <a:prstDash val="solid"/>
          </a:ln>
        </p:spPr>
      </p:sp>
      <p:sp>
        <p:nvSpPr>
          <p:cNvPr id="53" name="Text 51"/>
          <p:cNvSpPr/>
          <p:nvPr/>
        </p:nvSpPr>
        <p:spPr>
          <a:xfrm>
            <a:off x="7379208" y="5358384"/>
            <a:ext cx="4206240" cy="36576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Deployment</a:t>
            </a:r>
            <a:endParaRPr lang="en-US" sz="1300" dirty="0"/>
          </a:p>
        </p:txBody>
      </p:sp>
      <p:sp>
        <p:nvSpPr>
          <p:cNvPr id="54" name="Text 52"/>
          <p:cNvSpPr/>
          <p:nvPr/>
        </p:nvSpPr>
        <p:spPr>
          <a:xfrm>
            <a:off x="7379208" y="5687568"/>
            <a:ext cx="4206240" cy="365760"/>
          </a:xfrm>
          <a:prstGeom prst="rect">
            <a:avLst/>
          </a:prstGeom>
          <a:noFill/>
          <a:ln/>
        </p:spPr>
        <p:txBody>
          <a:bodyPr wrap="square" rtlCol="0" anchor="ctr"/>
          <a:lstStyle/>
          <a:p>
            <a:pPr indent="0" marL="0">
              <a:buNone/>
            </a:pPr>
            <a:r>
              <a:rPr lang="en-US" sz="1050" dirty="0">
                <a:solidFill>
                  <a:srgbClr val="6B6B7B"/>
                </a:solidFill>
                <a:latin typeface="Calibri" pitchFamily="34" charset="0"/>
                <a:ea typeface="Calibri" pitchFamily="34" charset="-122"/>
                <a:cs typeface="Calibri" pitchFamily="34" charset="-120"/>
              </a:rPr>
              <a:t>Interactive Gradio prediction app</a:t>
            </a:r>
            <a:endParaRPr lang="en-US" sz="1050" dirty="0"/>
          </a:p>
        </p:txBody>
      </p:sp>
      <p:sp>
        <p:nvSpPr>
          <p:cNvPr id="55" name="Text 53"/>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56" name="Text 5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Predicting Revenue Before a Single Ticket Sells</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Studios commit budgets and screen counts long before opening weekend</a:t>
            </a:r>
            <a:endParaRPr lang="en-US" sz="1350" dirty="0"/>
          </a:p>
        </p:txBody>
      </p:sp>
      <p:sp>
        <p:nvSpPr>
          <p:cNvPr id="5" name="Text 3"/>
          <p:cNvSpPr/>
          <p:nvPr/>
        </p:nvSpPr>
        <p:spPr>
          <a:xfrm>
            <a:off x="457200" y="2011680"/>
            <a:ext cx="6309360" cy="1188720"/>
          </a:xfrm>
          <a:prstGeom prst="rect">
            <a:avLst/>
          </a:prstGeom>
          <a:noFill/>
          <a:ln/>
        </p:spPr>
        <p:txBody>
          <a:bodyPr wrap="square" rtlCol="0" anchor="ctr"/>
          <a:lstStyle/>
          <a:p>
            <a:pPr indent="0" marL="0">
              <a:lnSpc>
                <a:spcPct val="130000"/>
              </a:lnSpc>
              <a:buNone/>
            </a:pPr>
            <a:r>
              <a:rPr lang="en-US" sz="1450" b="1" dirty="0">
                <a:solidFill>
                  <a:srgbClr val="1A1A2E"/>
                </a:solidFill>
                <a:latin typeface="Calibri" pitchFamily="34" charset="0"/>
                <a:ea typeface="Calibri" pitchFamily="34" charset="-122"/>
                <a:cs typeface="Calibri" pitchFamily="34" charset="-120"/>
              </a:rPr>
              <a:t>Greenlighting a film is a high-stakes bet. </a:t>
            </a:r>
            <a:pPr indent="0" marL="0">
              <a:lnSpc>
                <a:spcPct val="130000"/>
              </a:lnSpc>
              <a:buNone/>
            </a:pPr>
            <a:r>
              <a:rPr lang="en-US" sz="1450" dirty="0">
                <a:solidFill>
                  <a:srgbClr val="1A1A2E"/>
                </a:solidFill>
                <a:latin typeface="Calibri" pitchFamily="34" charset="0"/>
                <a:ea typeface="Calibri" pitchFamily="34" charset="-122"/>
                <a:cs typeface="Calibri" pitchFamily="34" charset="-120"/>
              </a:rPr>
              <a:t>Budget, casting, and distribution decisions are locked in months before release, yet box-office outcomes swing from a few lakhs to over ₹2,000 crore.</a:t>
            </a:r>
            <a:endParaRPr lang="en-US" sz="1450" dirty="0"/>
          </a:p>
        </p:txBody>
      </p:sp>
      <p:sp>
        <p:nvSpPr>
          <p:cNvPr id="6" name="Text 4"/>
          <p:cNvSpPr/>
          <p:nvPr/>
        </p:nvSpPr>
        <p:spPr>
          <a:xfrm>
            <a:off x="457200" y="3246120"/>
            <a:ext cx="630936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The objective:</a:t>
            </a:r>
            <a:endParaRPr lang="en-US" sz="1300" dirty="0"/>
          </a:p>
        </p:txBody>
      </p:sp>
      <p:sp>
        <p:nvSpPr>
          <p:cNvPr id="7" name="Shape 5"/>
          <p:cNvSpPr/>
          <p:nvPr/>
        </p:nvSpPr>
        <p:spPr>
          <a:xfrm>
            <a:off x="457200" y="3666744"/>
            <a:ext cx="109728" cy="109728"/>
          </a:xfrm>
          <a:prstGeom prst="ellipse">
            <a:avLst/>
          </a:prstGeom>
          <a:solidFill>
            <a:srgbClr val="D4AF37"/>
          </a:solidFill>
          <a:ln/>
        </p:spPr>
      </p:sp>
      <p:sp>
        <p:nvSpPr>
          <p:cNvPr id="8" name="Text 6"/>
          <p:cNvSpPr/>
          <p:nvPr/>
        </p:nvSpPr>
        <p:spPr>
          <a:xfrm>
            <a:off x="713232" y="3538728"/>
            <a:ext cx="6035040" cy="502920"/>
          </a:xfrm>
          <a:prstGeom prst="rect">
            <a:avLst/>
          </a:prstGeom>
          <a:noFill/>
          <a:ln/>
        </p:spPr>
        <p:txBody>
          <a:bodyPr wrap="square" rtlCol="0" anchor="ctr"/>
          <a:lstStyle/>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Build a regression model that estimates Revenue(INR) from a film's pre-release profile</a:t>
            </a:r>
            <a:endParaRPr lang="en-US" sz="1250" dirty="0"/>
          </a:p>
        </p:txBody>
      </p:sp>
      <p:sp>
        <p:nvSpPr>
          <p:cNvPr id="9" name="Shape 7"/>
          <p:cNvSpPr/>
          <p:nvPr/>
        </p:nvSpPr>
        <p:spPr>
          <a:xfrm>
            <a:off x="457200" y="4325112"/>
            <a:ext cx="109728" cy="109728"/>
          </a:xfrm>
          <a:prstGeom prst="ellipse">
            <a:avLst/>
          </a:prstGeom>
          <a:solidFill>
            <a:srgbClr val="D4AF37"/>
          </a:solidFill>
          <a:ln/>
        </p:spPr>
      </p:sp>
      <p:sp>
        <p:nvSpPr>
          <p:cNvPr id="10" name="Text 8"/>
          <p:cNvSpPr/>
          <p:nvPr/>
        </p:nvSpPr>
        <p:spPr>
          <a:xfrm>
            <a:off x="713232" y="4197096"/>
            <a:ext cx="6035040" cy="502920"/>
          </a:xfrm>
          <a:prstGeom prst="rect">
            <a:avLst/>
          </a:prstGeom>
          <a:noFill/>
          <a:ln/>
        </p:spPr>
        <p:txBody>
          <a:bodyPr wrap="square" rtlCol="0" anchor="ctr"/>
          <a:lstStyle/>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Quantify which factors—cast, crew, genre, scale—move revenue the most</a:t>
            </a:r>
            <a:endParaRPr lang="en-US" sz="1250" dirty="0"/>
          </a:p>
        </p:txBody>
      </p:sp>
      <p:sp>
        <p:nvSpPr>
          <p:cNvPr id="11" name="Shape 9"/>
          <p:cNvSpPr/>
          <p:nvPr/>
        </p:nvSpPr>
        <p:spPr>
          <a:xfrm>
            <a:off x="457200" y="4983480"/>
            <a:ext cx="109728" cy="109728"/>
          </a:xfrm>
          <a:prstGeom prst="ellipse">
            <a:avLst/>
          </a:prstGeom>
          <a:solidFill>
            <a:srgbClr val="D4AF37"/>
          </a:solidFill>
          <a:ln/>
        </p:spPr>
      </p:sp>
      <p:sp>
        <p:nvSpPr>
          <p:cNvPr id="12" name="Text 10"/>
          <p:cNvSpPr/>
          <p:nvPr/>
        </p:nvSpPr>
        <p:spPr>
          <a:xfrm>
            <a:off x="713232" y="4855464"/>
            <a:ext cx="6035040" cy="502920"/>
          </a:xfrm>
          <a:prstGeom prst="rect">
            <a:avLst/>
          </a:prstGeom>
          <a:noFill/>
          <a:ln/>
        </p:spPr>
        <p:txBody>
          <a:bodyPr wrap="square" rtlCol="0" anchor="ctr"/>
          <a:lstStyle/>
          <a:p>
            <a:pPr indent="0" marL="0">
              <a:lnSpc>
                <a:spcPct val="115000"/>
              </a:lnSpc>
              <a:buNone/>
            </a:pPr>
            <a:r>
              <a:rPr lang="en-US" sz="1250" dirty="0">
                <a:solidFill>
                  <a:srgbClr val="1A1A2E"/>
                </a:solidFill>
                <a:latin typeface="Calibri" pitchFamily="34" charset="0"/>
                <a:ea typeface="Calibri" pitchFamily="34" charset="-122"/>
                <a:cs typeface="Calibri" pitchFamily="34" charset="-120"/>
              </a:rPr>
              <a:t>Package the model behind an interface a producer can query directly</a:t>
            </a:r>
            <a:endParaRPr lang="en-US" sz="1250" dirty="0"/>
          </a:p>
        </p:txBody>
      </p:sp>
      <p:sp>
        <p:nvSpPr>
          <p:cNvPr id="13" name="Shape 11"/>
          <p:cNvSpPr/>
          <p:nvPr/>
        </p:nvSpPr>
        <p:spPr>
          <a:xfrm>
            <a:off x="7178040" y="2011680"/>
            <a:ext cx="4526280" cy="1234440"/>
          </a:xfrm>
          <a:prstGeom prst="roundRect">
            <a:avLst>
              <a:gd name="adj" fmla="val 5926"/>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7287768" y="2139696"/>
            <a:ext cx="4306824" cy="667512"/>
          </a:xfrm>
          <a:prstGeom prst="rect">
            <a:avLst/>
          </a:prstGeom>
          <a:noFill/>
          <a:ln/>
        </p:spPr>
        <p:txBody>
          <a:bodyPr wrap="square" rtlCol="0" anchor="b"/>
          <a:lstStyle/>
          <a:p>
            <a:pPr algn="l" indent="0" marL="0">
              <a:buNone/>
            </a:pPr>
            <a:r>
              <a:rPr lang="en-US" sz="2200" b="1" dirty="0">
                <a:solidFill>
                  <a:srgbClr val="8B1E3F"/>
                </a:solidFill>
                <a:latin typeface="Cambria" pitchFamily="34" charset="0"/>
                <a:ea typeface="Cambria" pitchFamily="34" charset="-122"/>
                <a:cs typeface="Cambria" pitchFamily="34" charset="-120"/>
              </a:rPr>
              <a:t>₹3.25L – ₹210 Cr</a:t>
            </a:r>
            <a:endParaRPr lang="en-US" sz="2200" dirty="0"/>
          </a:p>
        </p:txBody>
      </p:sp>
      <p:sp>
        <p:nvSpPr>
          <p:cNvPr id="15" name="Text 13"/>
          <p:cNvSpPr/>
          <p:nvPr/>
        </p:nvSpPr>
        <p:spPr>
          <a:xfrm>
            <a:off x="7287768" y="2807208"/>
            <a:ext cx="430682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Range of Revenue(INR) across the dataset</a:t>
            </a:r>
            <a:endParaRPr lang="en-US" sz="1050" dirty="0"/>
          </a:p>
        </p:txBody>
      </p:sp>
      <p:sp>
        <p:nvSpPr>
          <p:cNvPr id="16" name="Shape 14"/>
          <p:cNvSpPr/>
          <p:nvPr/>
        </p:nvSpPr>
        <p:spPr>
          <a:xfrm>
            <a:off x="7178040" y="3429000"/>
            <a:ext cx="4526280" cy="1234440"/>
          </a:xfrm>
          <a:prstGeom prst="roundRect">
            <a:avLst>
              <a:gd name="adj" fmla="val 5926"/>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7287768" y="3557016"/>
            <a:ext cx="4306824" cy="667512"/>
          </a:xfrm>
          <a:prstGeom prst="rect">
            <a:avLst/>
          </a:prstGeom>
          <a:noFill/>
          <a:ln/>
        </p:spPr>
        <p:txBody>
          <a:bodyPr wrap="square" rtlCol="0" anchor="b"/>
          <a:lstStyle/>
          <a:p>
            <a:pPr algn="l" indent="0" marL="0">
              <a:buNone/>
            </a:pPr>
            <a:r>
              <a:rPr lang="en-US" sz="2200" b="1" dirty="0">
                <a:solidFill>
                  <a:srgbClr val="8B1E3F"/>
                </a:solidFill>
                <a:latin typeface="Cambria" pitchFamily="34" charset="0"/>
                <a:ea typeface="Cambria" pitchFamily="34" charset="-122"/>
                <a:cs typeface="Cambria" pitchFamily="34" charset="-120"/>
              </a:rPr>
              <a:t>1,048 directors</a:t>
            </a:r>
            <a:endParaRPr lang="en-US" sz="2200" dirty="0"/>
          </a:p>
        </p:txBody>
      </p:sp>
      <p:sp>
        <p:nvSpPr>
          <p:cNvPr id="18" name="Text 16"/>
          <p:cNvSpPr/>
          <p:nvPr/>
        </p:nvSpPr>
        <p:spPr>
          <a:xfrm>
            <a:off x="7287768" y="4224528"/>
            <a:ext cx="430682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764 lead stars · 630 music directors represented</a:t>
            </a:r>
            <a:endParaRPr lang="en-US" sz="1050" dirty="0"/>
          </a:p>
        </p:txBody>
      </p:sp>
      <p:sp>
        <p:nvSpPr>
          <p:cNvPr id="19" name="Shape 17"/>
          <p:cNvSpPr/>
          <p:nvPr/>
        </p:nvSpPr>
        <p:spPr>
          <a:xfrm>
            <a:off x="7178040" y="4846320"/>
            <a:ext cx="4526280" cy="1234440"/>
          </a:xfrm>
          <a:prstGeom prst="roundRect">
            <a:avLst>
              <a:gd name="adj" fmla="val 5926"/>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20" name="Text 18"/>
          <p:cNvSpPr/>
          <p:nvPr/>
        </p:nvSpPr>
        <p:spPr>
          <a:xfrm>
            <a:off x="7287768" y="4974336"/>
            <a:ext cx="4306824" cy="667512"/>
          </a:xfrm>
          <a:prstGeom prst="rect">
            <a:avLst/>
          </a:prstGeom>
          <a:noFill/>
          <a:ln/>
        </p:spPr>
        <p:txBody>
          <a:bodyPr wrap="square" rtlCol="0" anchor="b"/>
          <a:lstStyle/>
          <a:p>
            <a:pPr algn="l" indent="0" marL="0">
              <a:buNone/>
            </a:pPr>
            <a:r>
              <a:rPr lang="en-US" sz="2200" b="1" dirty="0">
                <a:solidFill>
                  <a:srgbClr val="8B1E3F"/>
                </a:solidFill>
                <a:latin typeface="Cambria" pitchFamily="34" charset="0"/>
                <a:ea typeface="Cambria" pitchFamily="34" charset="-122"/>
                <a:cs typeface="Cambria" pitchFamily="34" charset="-120"/>
              </a:rPr>
              <a:t>Elastic Net</a:t>
            </a:r>
            <a:endParaRPr lang="en-US" sz="2200" dirty="0"/>
          </a:p>
        </p:txBody>
      </p:sp>
      <p:sp>
        <p:nvSpPr>
          <p:cNvPr id="21" name="Text 19"/>
          <p:cNvSpPr/>
          <p:nvPr/>
        </p:nvSpPr>
        <p:spPr>
          <a:xfrm>
            <a:off x="7287768" y="5641848"/>
            <a:ext cx="430682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Chosen model family: linear, regularised, interpretable</a:t>
            </a:r>
            <a:endParaRPr lang="en-US" sz="1050" dirty="0"/>
          </a:p>
        </p:txBody>
      </p:sp>
      <p:sp>
        <p:nvSpPr>
          <p:cNvPr id="22" name="Text 20"/>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23" name="Text 2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01 · DATA COLLECTION</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Dataset Overview</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Data_for_repository.csv — loaded and profiled with pandas</a:t>
            </a:r>
            <a:endParaRPr lang="en-US" sz="1350" dirty="0"/>
          </a:p>
        </p:txBody>
      </p:sp>
      <p:sp>
        <p:nvSpPr>
          <p:cNvPr id="5" name="Shape 3"/>
          <p:cNvSpPr/>
          <p:nvPr/>
        </p:nvSpPr>
        <p:spPr>
          <a:xfrm>
            <a:off x="457200" y="1965960"/>
            <a:ext cx="2651760" cy="1371600"/>
          </a:xfrm>
          <a:prstGeom prst="roundRect">
            <a:avLst>
              <a:gd name="adj" fmla="val 5333"/>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566928" y="2093976"/>
            <a:ext cx="2432304" cy="804672"/>
          </a:xfrm>
          <a:prstGeom prst="rect">
            <a:avLst/>
          </a:prstGeom>
          <a:noFill/>
          <a:ln/>
        </p:spPr>
        <p:txBody>
          <a:bodyPr wrap="square" rtlCol="0" anchor="b"/>
          <a:lstStyle/>
          <a:p>
            <a:pPr algn="l" indent="0" marL="0">
              <a:buNone/>
            </a:pPr>
            <a:r>
              <a:rPr lang="en-US" sz="3000" b="1" dirty="0">
                <a:solidFill>
                  <a:srgbClr val="8B1E3F"/>
                </a:solidFill>
                <a:latin typeface="Cambria" pitchFamily="34" charset="0"/>
                <a:ea typeface="Cambria" pitchFamily="34" charset="-122"/>
                <a:cs typeface="Cambria" pitchFamily="34" charset="-120"/>
              </a:rPr>
              <a:t>1,698</a:t>
            </a:r>
            <a:endParaRPr lang="en-US" sz="3000" dirty="0"/>
          </a:p>
        </p:txBody>
      </p:sp>
      <p:sp>
        <p:nvSpPr>
          <p:cNvPr id="7" name="Text 5"/>
          <p:cNvSpPr/>
          <p:nvPr/>
        </p:nvSpPr>
        <p:spPr>
          <a:xfrm>
            <a:off x="566928" y="2898648"/>
            <a:ext cx="243230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raw film records</a:t>
            </a:r>
            <a:endParaRPr lang="en-US" sz="1050" dirty="0"/>
          </a:p>
        </p:txBody>
      </p:sp>
      <p:sp>
        <p:nvSpPr>
          <p:cNvPr id="8" name="Shape 6"/>
          <p:cNvSpPr/>
          <p:nvPr/>
        </p:nvSpPr>
        <p:spPr>
          <a:xfrm>
            <a:off x="3328416" y="1965960"/>
            <a:ext cx="2651760" cy="1371600"/>
          </a:xfrm>
          <a:prstGeom prst="roundRect">
            <a:avLst>
              <a:gd name="adj" fmla="val 5333"/>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3438144" y="2093976"/>
            <a:ext cx="2432304" cy="804672"/>
          </a:xfrm>
          <a:prstGeom prst="rect">
            <a:avLst/>
          </a:prstGeom>
          <a:noFill/>
          <a:ln/>
        </p:spPr>
        <p:txBody>
          <a:bodyPr wrap="square" rtlCol="0" anchor="b"/>
          <a:lstStyle/>
          <a:p>
            <a:pPr algn="l" indent="0" marL="0">
              <a:buNone/>
            </a:pPr>
            <a:r>
              <a:rPr lang="en-US" sz="3000" b="1" dirty="0">
                <a:solidFill>
                  <a:srgbClr val="8B1E3F"/>
                </a:solidFill>
                <a:latin typeface="Cambria" pitchFamily="34" charset="0"/>
                <a:ea typeface="Cambria" pitchFamily="34" charset="-122"/>
                <a:cs typeface="Cambria" pitchFamily="34" charset="-120"/>
              </a:rPr>
              <a:t>14</a:t>
            </a:r>
            <a:endParaRPr lang="en-US" sz="3000" dirty="0"/>
          </a:p>
        </p:txBody>
      </p:sp>
      <p:sp>
        <p:nvSpPr>
          <p:cNvPr id="10" name="Text 8"/>
          <p:cNvSpPr/>
          <p:nvPr/>
        </p:nvSpPr>
        <p:spPr>
          <a:xfrm>
            <a:off x="3438144" y="2898648"/>
            <a:ext cx="243230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original columns</a:t>
            </a:r>
            <a:endParaRPr lang="en-US" sz="1050" dirty="0"/>
          </a:p>
        </p:txBody>
      </p:sp>
      <p:sp>
        <p:nvSpPr>
          <p:cNvPr id="11" name="Shape 9"/>
          <p:cNvSpPr/>
          <p:nvPr/>
        </p:nvSpPr>
        <p:spPr>
          <a:xfrm>
            <a:off x="6199632" y="1965960"/>
            <a:ext cx="2651760" cy="1371600"/>
          </a:xfrm>
          <a:prstGeom prst="roundRect">
            <a:avLst>
              <a:gd name="adj" fmla="val 5333"/>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6309360" y="2093976"/>
            <a:ext cx="2432304" cy="804672"/>
          </a:xfrm>
          <a:prstGeom prst="rect">
            <a:avLst/>
          </a:prstGeom>
          <a:noFill/>
          <a:ln/>
        </p:spPr>
        <p:txBody>
          <a:bodyPr wrap="square" rtlCol="0" anchor="b"/>
          <a:lstStyle/>
          <a:p>
            <a:pPr algn="l" indent="0" marL="0">
              <a:buNone/>
            </a:pPr>
            <a:r>
              <a:rPr lang="en-US" sz="3000" b="1" dirty="0">
                <a:solidFill>
                  <a:srgbClr val="8B1E3F"/>
                </a:solidFill>
                <a:latin typeface="Cambria" pitchFamily="34" charset="0"/>
                <a:ea typeface="Cambria" pitchFamily="34" charset="-122"/>
                <a:cs typeface="Cambria" pitchFamily="34" charset="-120"/>
              </a:rPr>
              <a:t>0</a:t>
            </a:r>
            <a:endParaRPr lang="en-US" sz="3000" dirty="0"/>
          </a:p>
        </p:txBody>
      </p:sp>
      <p:sp>
        <p:nvSpPr>
          <p:cNvPr id="13" name="Text 11"/>
          <p:cNvSpPr/>
          <p:nvPr/>
        </p:nvSpPr>
        <p:spPr>
          <a:xfrm>
            <a:off x="6309360" y="2898648"/>
            <a:ext cx="243230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missing values</a:t>
            </a:r>
            <a:endParaRPr lang="en-US" sz="1050" dirty="0"/>
          </a:p>
        </p:txBody>
      </p:sp>
      <p:sp>
        <p:nvSpPr>
          <p:cNvPr id="14" name="Shape 12"/>
          <p:cNvSpPr/>
          <p:nvPr/>
        </p:nvSpPr>
        <p:spPr>
          <a:xfrm>
            <a:off x="9070848" y="1965960"/>
            <a:ext cx="2651760" cy="1371600"/>
          </a:xfrm>
          <a:prstGeom prst="roundRect">
            <a:avLst>
              <a:gd name="adj" fmla="val 5333"/>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9180576" y="2093976"/>
            <a:ext cx="2432304" cy="804672"/>
          </a:xfrm>
          <a:prstGeom prst="rect">
            <a:avLst/>
          </a:prstGeom>
          <a:noFill/>
          <a:ln/>
        </p:spPr>
        <p:txBody>
          <a:bodyPr wrap="square" rtlCol="0" anchor="b"/>
          <a:lstStyle/>
          <a:p>
            <a:pPr algn="l" indent="0" marL="0">
              <a:buNone/>
            </a:pPr>
            <a:r>
              <a:rPr lang="en-US" sz="3000" b="1" dirty="0">
                <a:solidFill>
                  <a:srgbClr val="8B1E3F"/>
                </a:solidFill>
                <a:latin typeface="Cambria" pitchFamily="34" charset="0"/>
                <a:ea typeface="Cambria" pitchFamily="34" charset="-122"/>
                <a:cs typeface="Cambria" pitchFamily="34" charset="-120"/>
              </a:rPr>
              <a:t>2</a:t>
            </a:r>
            <a:endParaRPr lang="en-US" sz="3000" dirty="0"/>
          </a:p>
        </p:txBody>
      </p:sp>
      <p:sp>
        <p:nvSpPr>
          <p:cNvPr id="16" name="Text 14"/>
          <p:cNvSpPr/>
          <p:nvPr/>
        </p:nvSpPr>
        <p:spPr>
          <a:xfrm>
            <a:off x="9180576" y="2898648"/>
            <a:ext cx="243230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duplicate rows found</a:t>
            </a:r>
            <a:endParaRPr lang="en-US" sz="1050" dirty="0"/>
          </a:p>
        </p:txBody>
      </p:sp>
      <p:sp>
        <p:nvSpPr>
          <p:cNvPr id="17" name="Text 15"/>
          <p:cNvSpPr/>
          <p:nvPr/>
        </p:nvSpPr>
        <p:spPr>
          <a:xfrm>
            <a:off x="457200" y="3611880"/>
            <a:ext cx="548640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Raw column schema</a:t>
            </a:r>
            <a:endParaRPr lang="en-US" sz="1300" dirty="0"/>
          </a:p>
        </p:txBody>
      </p:sp>
      <p:sp>
        <p:nvSpPr>
          <p:cNvPr id="18" name="Shape 16"/>
          <p:cNvSpPr/>
          <p:nvPr/>
        </p:nvSpPr>
        <p:spPr>
          <a:xfrm>
            <a:off x="457200" y="3886200"/>
            <a:ext cx="5394960" cy="301752"/>
          </a:xfrm>
          <a:prstGeom prst="rect">
            <a:avLst/>
          </a:prstGeom>
          <a:solidFill>
            <a:srgbClr val="F2F1F5"/>
          </a:solidFill>
          <a:ln/>
        </p:spPr>
      </p:sp>
      <p:sp>
        <p:nvSpPr>
          <p:cNvPr id="19" name="Text 17"/>
          <p:cNvSpPr/>
          <p:nvPr/>
        </p:nvSpPr>
        <p:spPr>
          <a:xfrm>
            <a:off x="548640" y="3886200"/>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Movie_Name</a:t>
            </a:r>
            <a:endParaRPr lang="en-US" sz="1050" dirty="0"/>
          </a:p>
        </p:txBody>
      </p:sp>
      <p:sp>
        <p:nvSpPr>
          <p:cNvPr id="20" name="Text 18"/>
          <p:cNvSpPr/>
          <p:nvPr/>
        </p:nvSpPr>
        <p:spPr>
          <a:xfrm>
            <a:off x="3694176" y="3886200"/>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text</a:t>
            </a:r>
            <a:endParaRPr lang="en-US" sz="1000" dirty="0"/>
          </a:p>
        </p:txBody>
      </p:sp>
      <p:sp>
        <p:nvSpPr>
          <p:cNvPr id="21" name="Text 19"/>
          <p:cNvSpPr/>
          <p:nvPr/>
        </p:nvSpPr>
        <p:spPr>
          <a:xfrm>
            <a:off x="548640" y="4187952"/>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Release_Period</a:t>
            </a:r>
            <a:endParaRPr lang="en-US" sz="1050" dirty="0"/>
          </a:p>
        </p:txBody>
      </p:sp>
      <p:sp>
        <p:nvSpPr>
          <p:cNvPr id="22" name="Text 20"/>
          <p:cNvSpPr/>
          <p:nvPr/>
        </p:nvSpPr>
        <p:spPr>
          <a:xfrm>
            <a:off x="3694176" y="4187952"/>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Normal / Holiday</a:t>
            </a:r>
            <a:endParaRPr lang="en-US" sz="1000" dirty="0"/>
          </a:p>
        </p:txBody>
      </p:sp>
      <p:sp>
        <p:nvSpPr>
          <p:cNvPr id="23" name="Shape 21"/>
          <p:cNvSpPr/>
          <p:nvPr/>
        </p:nvSpPr>
        <p:spPr>
          <a:xfrm>
            <a:off x="457200" y="4489704"/>
            <a:ext cx="5394960" cy="301752"/>
          </a:xfrm>
          <a:prstGeom prst="rect">
            <a:avLst/>
          </a:prstGeom>
          <a:solidFill>
            <a:srgbClr val="F2F1F5"/>
          </a:solidFill>
          <a:ln/>
        </p:spPr>
      </p:sp>
      <p:sp>
        <p:nvSpPr>
          <p:cNvPr id="24" name="Text 22"/>
          <p:cNvSpPr/>
          <p:nvPr/>
        </p:nvSpPr>
        <p:spPr>
          <a:xfrm>
            <a:off x="548640" y="4489704"/>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Whether_Remake</a:t>
            </a:r>
            <a:endParaRPr lang="en-US" sz="1050" dirty="0"/>
          </a:p>
        </p:txBody>
      </p:sp>
      <p:sp>
        <p:nvSpPr>
          <p:cNvPr id="25" name="Text 23"/>
          <p:cNvSpPr/>
          <p:nvPr/>
        </p:nvSpPr>
        <p:spPr>
          <a:xfrm>
            <a:off x="3694176" y="4489704"/>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Yes / No</a:t>
            </a:r>
            <a:endParaRPr lang="en-US" sz="1000" dirty="0"/>
          </a:p>
        </p:txBody>
      </p:sp>
      <p:sp>
        <p:nvSpPr>
          <p:cNvPr id="26" name="Text 24"/>
          <p:cNvSpPr/>
          <p:nvPr/>
        </p:nvSpPr>
        <p:spPr>
          <a:xfrm>
            <a:off x="548640" y="4791456"/>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Whether_Franchise</a:t>
            </a:r>
            <a:endParaRPr lang="en-US" sz="1050" dirty="0"/>
          </a:p>
        </p:txBody>
      </p:sp>
      <p:sp>
        <p:nvSpPr>
          <p:cNvPr id="27" name="Text 25"/>
          <p:cNvSpPr/>
          <p:nvPr/>
        </p:nvSpPr>
        <p:spPr>
          <a:xfrm>
            <a:off x="3694176" y="4791456"/>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Yes / No</a:t>
            </a:r>
            <a:endParaRPr lang="en-US" sz="1000" dirty="0"/>
          </a:p>
        </p:txBody>
      </p:sp>
      <p:sp>
        <p:nvSpPr>
          <p:cNvPr id="28" name="Shape 26"/>
          <p:cNvSpPr/>
          <p:nvPr/>
        </p:nvSpPr>
        <p:spPr>
          <a:xfrm>
            <a:off x="457200" y="5093208"/>
            <a:ext cx="5394960" cy="301752"/>
          </a:xfrm>
          <a:prstGeom prst="rect">
            <a:avLst/>
          </a:prstGeom>
          <a:solidFill>
            <a:srgbClr val="F2F1F5"/>
          </a:solidFill>
          <a:ln/>
        </p:spPr>
      </p:sp>
      <p:sp>
        <p:nvSpPr>
          <p:cNvPr id="29" name="Text 27"/>
          <p:cNvSpPr/>
          <p:nvPr/>
        </p:nvSpPr>
        <p:spPr>
          <a:xfrm>
            <a:off x="548640" y="5093208"/>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Genre</a:t>
            </a:r>
            <a:endParaRPr lang="en-US" sz="1050" dirty="0"/>
          </a:p>
        </p:txBody>
      </p:sp>
      <p:sp>
        <p:nvSpPr>
          <p:cNvPr id="30" name="Text 28"/>
          <p:cNvSpPr/>
          <p:nvPr/>
        </p:nvSpPr>
        <p:spPr>
          <a:xfrm>
            <a:off x="3694176" y="5093208"/>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14 categories</a:t>
            </a:r>
            <a:endParaRPr lang="en-US" sz="1000" dirty="0"/>
          </a:p>
        </p:txBody>
      </p:sp>
      <p:sp>
        <p:nvSpPr>
          <p:cNvPr id="31" name="Text 29"/>
          <p:cNvSpPr/>
          <p:nvPr/>
        </p:nvSpPr>
        <p:spPr>
          <a:xfrm>
            <a:off x="548640" y="5394960"/>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New_Actor</a:t>
            </a:r>
            <a:endParaRPr lang="en-US" sz="1050" dirty="0"/>
          </a:p>
        </p:txBody>
      </p:sp>
      <p:sp>
        <p:nvSpPr>
          <p:cNvPr id="32" name="Text 30"/>
          <p:cNvSpPr/>
          <p:nvPr/>
        </p:nvSpPr>
        <p:spPr>
          <a:xfrm>
            <a:off x="3694176" y="5394960"/>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Yes / No</a:t>
            </a:r>
            <a:endParaRPr lang="en-US" sz="1000" dirty="0"/>
          </a:p>
        </p:txBody>
      </p:sp>
      <p:sp>
        <p:nvSpPr>
          <p:cNvPr id="33" name="Shape 31"/>
          <p:cNvSpPr/>
          <p:nvPr/>
        </p:nvSpPr>
        <p:spPr>
          <a:xfrm>
            <a:off x="457200" y="5696712"/>
            <a:ext cx="5394960" cy="301752"/>
          </a:xfrm>
          <a:prstGeom prst="rect">
            <a:avLst/>
          </a:prstGeom>
          <a:solidFill>
            <a:srgbClr val="F2F1F5"/>
          </a:solidFill>
          <a:ln/>
        </p:spPr>
      </p:sp>
      <p:sp>
        <p:nvSpPr>
          <p:cNvPr id="34" name="Text 32"/>
          <p:cNvSpPr/>
          <p:nvPr/>
        </p:nvSpPr>
        <p:spPr>
          <a:xfrm>
            <a:off x="548640" y="5696712"/>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New_Director</a:t>
            </a:r>
            <a:endParaRPr lang="en-US" sz="1050" dirty="0"/>
          </a:p>
        </p:txBody>
      </p:sp>
      <p:sp>
        <p:nvSpPr>
          <p:cNvPr id="35" name="Text 33"/>
          <p:cNvSpPr/>
          <p:nvPr/>
        </p:nvSpPr>
        <p:spPr>
          <a:xfrm>
            <a:off x="3694176" y="5696712"/>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Yes / No</a:t>
            </a:r>
            <a:endParaRPr lang="en-US" sz="1000" dirty="0"/>
          </a:p>
        </p:txBody>
      </p:sp>
      <p:sp>
        <p:nvSpPr>
          <p:cNvPr id="36" name="Text 34"/>
          <p:cNvSpPr/>
          <p:nvPr/>
        </p:nvSpPr>
        <p:spPr>
          <a:xfrm>
            <a:off x="548640" y="5998464"/>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New_Music_Director</a:t>
            </a:r>
            <a:endParaRPr lang="en-US" sz="1050" dirty="0"/>
          </a:p>
        </p:txBody>
      </p:sp>
      <p:sp>
        <p:nvSpPr>
          <p:cNvPr id="37" name="Text 35"/>
          <p:cNvSpPr/>
          <p:nvPr/>
        </p:nvSpPr>
        <p:spPr>
          <a:xfrm>
            <a:off x="3694176" y="5998464"/>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Yes / No</a:t>
            </a:r>
            <a:endParaRPr lang="en-US" sz="1000" dirty="0"/>
          </a:p>
        </p:txBody>
      </p:sp>
      <p:sp>
        <p:nvSpPr>
          <p:cNvPr id="38" name="Shape 36"/>
          <p:cNvSpPr/>
          <p:nvPr/>
        </p:nvSpPr>
        <p:spPr>
          <a:xfrm>
            <a:off x="6126480" y="3886200"/>
            <a:ext cx="5394960" cy="301752"/>
          </a:xfrm>
          <a:prstGeom prst="rect">
            <a:avLst/>
          </a:prstGeom>
          <a:solidFill>
            <a:srgbClr val="F2F1F5"/>
          </a:solidFill>
          <a:ln/>
        </p:spPr>
      </p:sp>
      <p:sp>
        <p:nvSpPr>
          <p:cNvPr id="39" name="Text 37"/>
          <p:cNvSpPr/>
          <p:nvPr/>
        </p:nvSpPr>
        <p:spPr>
          <a:xfrm>
            <a:off x="6217920" y="3886200"/>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Lead_Star</a:t>
            </a:r>
            <a:endParaRPr lang="en-US" sz="1050" dirty="0"/>
          </a:p>
        </p:txBody>
      </p:sp>
      <p:sp>
        <p:nvSpPr>
          <p:cNvPr id="40" name="Text 38"/>
          <p:cNvSpPr/>
          <p:nvPr/>
        </p:nvSpPr>
        <p:spPr>
          <a:xfrm>
            <a:off x="9363456" y="3886200"/>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764 unique</a:t>
            </a:r>
            <a:endParaRPr lang="en-US" sz="1000" dirty="0"/>
          </a:p>
        </p:txBody>
      </p:sp>
      <p:sp>
        <p:nvSpPr>
          <p:cNvPr id="41" name="Text 39"/>
          <p:cNvSpPr/>
          <p:nvPr/>
        </p:nvSpPr>
        <p:spPr>
          <a:xfrm>
            <a:off x="6217920" y="4187952"/>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Director</a:t>
            </a:r>
            <a:endParaRPr lang="en-US" sz="1050" dirty="0"/>
          </a:p>
        </p:txBody>
      </p:sp>
      <p:sp>
        <p:nvSpPr>
          <p:cNvPr id="42" name="Text 40"/>
          <p:cNvSpPr/>
          <p:nvPr/>
        </p:nvSpPr>
        <p:spPr>
          <a:xfrm>
            <a:off x="9363456" y="4187952"/>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1,048 unique</a:t>
            </a:r>
            <a:endParaRPr lang="en-US" sz="1000" dirty="0"/>
          </a:p>
        </p:txBody>
      </p:sp>
      <p:sp>
        <p:nvSpPr>
          <p:cNvPr id="43" name="Shape 41"/>
          <p:cNvSpPr/>
          <p:nvPr/>
        </p:nvSpPr>
        <p:spPr>
          <a:xfrm>
            <a:off x="6126480" y="4489704"/>
            <a:ext cx="5394960" cy="301752"/>
          </a:xfrm>
          <a:prstGeom prst="rect">
            <a:avLst/>
          </a:prstGeom>
          <a:solidFill>
            <a:srgbClr val="F2F1F5"/>
          </a:solidFill>
          <a:ln/>
        </p:spPr>
      </p:sp>
      <p:sp>
        <p:nvSpPr>
          <p:cNvPr id="44" name="Text 42"/>
          <p:cNvSpPr/>
          <p:nvPr/>
        </p:nvSpPr>
        <p:spPr>
          <a:xfrm>
            <a:off x="6217920" y="4489704"/>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Music_Director</a:t>
            </a:r>
            <a:endParaRPr lang="en-US" sz="1050" dirty="0"/>
          </a:p>
        </p:txBody>
      </p:sp>
      <p:sp>
        <p:nvSpPr>
          <p:cNvPr id="45" name="Text 43"/>
          <p:cNvSpPr/>
          <p:nvPr/>
        </p:nvSpPr>
        <p:spPr>
          <a:xfrm>
            <a:off x="9363456" y="4489704"/>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630 unique</a:t>
            </a:r>
            <a:endParaRPr lang="en-US" sz="1000" dirty="0"/>
          </a:p>
        </p:txBody>
      </p:sp>
      <p:sp>
        <p:nvSpPr>
          <p:cNvPr id="46" name="Text 44"/>
          <p:cNvSpPr/>
          <p:nvPr/>
        </p:nvSpPr>
        <p:spPr>
          <a:xfrm>
            <a:off x="6217920" y="4791456"/>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Number_of_Screens</a:t>
            </a:r>
            <a:endParaRPr lang="en-US" sz="1050" dirty="0"/>
          </a:p>
        </p:txBody>
      </p:sp>
      <p:sp>
        <p:nvSpPr>
          <p:cNvPr id="47" name="Text 45"/>
          <p:cNvSpPr/>
          <p:nvPr/>
        </p:nvSpPr>
        <p:spPr>
          <a:xfrm>
            <a:off x="9363456" y="4791456"/>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int, 1 – 4,600</a:t>
            </a:r>
            <a:endParaRPr lang="en-US" sz="1000" dirty="0"/>
          </a:p>
        </p:txBody>
      </p:sp>
      <p:sp>
        <p:nvSpPr>
          <p:cNvPr id="48" name="Shape 46"/>
          <p:cNvSpPr/>
          <p:nvPr/>
        </p:nvSpPr>
        <p:spPr>
          <a:xfrm>
            <a:off x="6126480" y="5093208"/>
            <a:ext cx="5394960" cy="301752"/>
          </a:xfrm>
          <a:prstGeom prst="rect">
            <a:avLst/>
          </a:prstGeom>
          <a:solidFill>
            <a:srgbClr val="F2F1F5"/>
          </a:solidFill>
          <a:ln/>
        </p:spPr>
      </p:sp>
      <p:sp>
        <p:nvSpPr>
          <p:cNvPr id="49" name="Text 47"/>
          <p:cNvSpPr/>
          <p:nvPr/>
        </p:nvSpPr>
        <p:spPr>
          <a:xfrm>
            <a:off x="6217920" y="5093208"/>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Revenue(INR)</a:t>
            </a:r>
            <a:endParaRPr lang="en-US" sz="1050" dirty="0"/>
          </a:p>
        </p:txBody>
      </p:sp>
      <p:sp>
        <p:nvSpPr>
          <p:cNvPr id="50" name="Text 48"/>
          <p:cNvSpPr/>
          <p:nvPr/>
        </p:nvSpPr>
        <p:spPr>
          <a:xfrm>
            <a:off x="9363456" y="5093208"/>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target · int</a:t>
            </a:r>
            <a:endParaRPr lang="en-US" sz="1000" dirty="0"/>
          </a:p>
        </p:txBody>
      </p:sp>
      <p:sp>
        <p:nvSpPr>
          <p:cNvPr id="51" name="Text 49"/>
          <p:cNvSpPr/>
          <p:nvPr/>
        </p:nvSpPr>
        <p:spPr>
          <a:xfrm>
            <a:off x="6217920" y="5394960"/>
            <a:ext cx="3236976" cy="301752"/>
          </a:xfrm>
          <a:prstGeom prst="rect">
            <a:avLst/>
          </a:prstGeom>
          <a:noFill/>
          <a:ln/>
        </p:spPr>
        <p:txBody>
          <a:bodyPr wrap="square" rtlCol="0" anchor="ctr"/>
          <a:lstStyle/>
          <a:p>
            <a:pPr indent="0" marL="0">
              <a:buNone/>
            </a:pPr>
            <a:r>
              <a:rPr lang="en-US" sz="1050" b="1" dirty="0">
                <a:solidFill>
                  <a:srgbClr val="1A1A2E"/>
                </a:solidFill>
                <a:latin typeface="Calibri" pitchFamily="34" charset="0"/>
                <a:ea typeface="Calibri" pitchFamily="34" charset="-122"/>
                <a:cs typeface="Calibri" pitchFamily="34" charset="-120"/>
              </a:rPr>
              <a:t>Budget(INR)</a:t>
            </a:r>
            <a:endParaRPr lang="en-US" sz="1050" dirty="0"/>
          </a:p>
        </p:txBody>
      </p:sp>
      <p:sp>
        <p:nvSpPr>
          <p:cNvPr id="52" name="Text 50"/>
          <p:cNvSpPr/>
          <p:nvPr/>
        </p:nvSpPr>
        <p:spPr>
          <a:xfrm>
            <a:off x="9363456" y="5394960"/>
            <a:ext cx="2050085" cy="301752"/>
          </a:xfrm>
          <a:prstGeom prst="rect">
            <a:avLst/>
          </a:prstGeom>
          <a:noFill/>
          <a:ln/>
        </p:spPr>
        <p:txBody>
          <a:bodyPr wrap="square" rtlCol="0" anchor="ctr"/>
          <a:lstStyle/>
          <a:p>
            <a:pPr algn="r" indent="0" marL="0">
              <a:buNone/>
            </a:pPr>
            <a:r>
              <a:rPr lang="en-US" sz="1000" dirty="0">
                <a:solidFill>
                  <a:srgbClr val="6B6B7B"/>
                </a:solidFill>
                <a:latin typeface="Calibri" pitchFamily="34" charset="0"/>
                <a:ea typeface="Calibri" pitchFamily="34" charset="-122"/>
                <a:cs typeface="Calibri" pitchFamily="34" charset="-120"/>
              </a:rPr>
              <a:t>int, ₹7.25K+</a:t>
            </a:r>
            <a:endParaRPr lang="en-US" sz="1000" dirty="0"/>
          </a:p>
        </p:txBody>
      </p:sp>
      <p:sp>
        <p:nvSpPr>
          <p:cNvPr id="53" name="Text 51"/>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54" name="Text 52"/>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02 · DATA UNDERSTANDING</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Understanding the Target: Revenue(INR)</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df.describe() on the three numeric columns</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965960"/>
          <a:ext cx="6949440" cy="3246120"/>
        </p:xfrm>
        <a:graphic>
          <a:graphicData uri="http://schemas.openxmlformats.org/drawingml/2006/table">
            <a:tbl>
              <a:tblPr/>
              <a:tblGrid>
                <a:gridCol w="1737360"/>
                <a:gridCol w="1737360"/>
                <a:gridCol w="1737360"/>
                <a:gridCol w="1737360"/>
              </a:tblGrid>
              <a:tr h="402336">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Statistic</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Number_of_Screens</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Revenue (INR)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Budget (INR)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r>
              <a:tr h="402336">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553.8</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₹15.02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₹23.77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Std. Dev.</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782.9</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₹24.35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₹61.34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Min</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₹3.25 Lakh</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₹7,250</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25th pct.</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₹1.5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₹11.5 Lakh</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₹5.5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₹1.24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75th pct.</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800</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₹19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₹17.78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Max</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4,600</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₹210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00" dirty="0">
                          <a:solidFill>
                            <a:srgbClr val="1A1A2E"/>
                          </a:solidFill>
                          <a:latin typeface="Calibri" pitchFamily="34" charset="0"/>
                          <a:ea typeface="Calibri" pitchFamily="34" charset="-122"/>
                          <a:cs typeface="Calibri" pitchFamily="34" charset="-120"/>
                        </a:rPr>
                        <a:t>₹801.6 Cr</a:t>
                      </a:r>
                      <a:endParaRPr lang="en-US" sz="110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bl>
          </a:graphicData>
        </a:graphic>
      </p:graphicFrame>
      <p:sp>
        <p:nvSpPr>
          <p:cNvPr id="6" name="Text 3"/>
          <p:cNvSpPr/>
          <p:nvPr/>
        </p:nvSpPr>
        <p:spPr>
          <a:xfrm>
            <a:off x="7680960" y="1965960"/>
            <a:ext cx="402336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Reading the spread</a:t>
            </a:r>
            <a:endParaRPr lang="en-US" sz="1300" dirty="0"/>
          </a:p>
        </p:txBody>
      </p:sp>
      <p:sp>
        <p:nvSpPr>
          <p:cNvPr id="7" name="Shape 4"/>
          <p:cNvSpPr/>
          <p:nvPr/>
        </p:nvSpPr>
        <p:spPr>
          <a:xfrm>
            <a:off x="7680960" y="2478024"/>
            <a:ext cx="91440" cy="91440"/>
          </a:xfrm>
          <a:prstGeom prst="ellipse">
            <a:avLst/>
          </a:prstGeom>
          <a:solidFill>
            <a:srgbClr val="D4AF37"/>
          </a:solidFill>
          <a:ln/>
        </p:spPr>
      </p:sp>
      <p:sp>
        <p:nvSpPr>
          <p:cNvPr id="8" name="Text 5"/>
          <p:cNvSpPr/>
          <p:nvPr/>
        </p:nvSpPr>
        <p:spPr>
          <a:xfrm>
            <a:off x="7891272" y="2350008"/>
            <a:ext cx="3840480" cy="777240"/>
          </a:xfrm>
          <a:prstGeom prst="rect">
            <a:avLst/>
          </a:prstGeom>
          <a:noFill/>
          <a:ln/>
        </p:spPr>
        <p:txBody>
          <a:bodyPr wrap="square" rtlCol="0" anchor="ctr"/>
          <a:lstStyle/>
          <a:p>
            <a:pPr indent="0" marL="0">
              <a:lnSpc>
                <a:spcPct val="120000"/>
              </a:lnSpc>
              <a:buNone/>
            </a:pPr>
            <a:r>
              <a:rPr lang="en-US" sz="1100" dirty="0">
                <a:solidFill>
                  <a:srgbClr val="1A1A2E"/>
                </a:solidFill>
                <a:latin typeface="Calibri" pitchFamily="34" charset="0"/>
                <a:ea typeface="Calibri" pitchFamily="34" charset="-122"/>
                <a:cs typeface="Calibri" pitchFamily="34" charset="-120"/>
              </a:rPr>
              <a:t>Revenue is heavily right-skewed — mean (₹15 Cr) sits well above the median (₹5.5 Cr).</a:t>
            </a:r>
            <a:endParaRPr lang="en-US" sz="1100" dirty="0"/>
          </a:p>
        </p:txBody>
      </p:sp>
      <p:sp>
        <p:nvSpPr>
          <p:cNvPr id="9" name="Shape 6"/>
          <p:cNvSpPr/>
          <p:nvPr/>
        </p:nvSpPr>
        <p:spPr>
          <a:xfrm>
            <a:off x="7680960" y="3392424"/>
            <a:ext cx="91440" cy="91440"/>
          </a:xfrm>
          <a:prstGeom prst="ellipse">
            <a:avLst/>
          </a:prstGeom>
          <a:solidFill>
            <a:srgbClr val="D4AF37"/>
          </a:solidFill>
          <a:ln/>
        </p:spPr>
      </p:sp>
      <p:sp>
        <p:nvSpPr>
          <p:cNvPr id="10" name="Text 7"/>
          <p:cNvSpPr/>
          <p:nvPr/>
        </p:nvSpPr>
        <p:spPr>
          <a:xfrm>
            <a:off x="7891272" y="3264408"/>
            <a:ext cx="3840480" cy="777240"/>
          </a:xfrm>
          <a:prstGeom prst="rect">
            <a:avLst/>
          </a:prstGeom>
          <a:noFill/>
          <a:ln/>
        </p:spPr>
        <p:txBody>
          <a:bodyPr wrap="square" rtlCol="0" anchor="ctr"/>
          <a:lstStyle/>
          <a:p>
            <a:pPr indent="0" marL="0">
              <a:lnSpc>
                <a:spcPct val="120000"/>
              </a:lnSpc>
              <a:buNone/>
            </a:pPr>
            <a:r>
              <a:rPr lang="en-US" sz="1100" dirty="0">
                <a:solidFill>
                  <a:srgbClr val="1A1A2E"/>
                </a:solidFill>
                <a:latin typeface="Calibri" pitchFamily="34" charset="0"/>
                <a:ea typeface="Calibri" pitchFamily="34" charset="-122"/>
                <a:cs typeface="Calibri" pitchFamily="34" charset="-120"/>
              </a:rPr>
              <a:t>A handful of blockbusters (up to ₹210 Cr) pull the average up sharply.</a:t>
            </a:r>
            <a:endParaRPr lang="en-US" sz="1100" dirty="0"/>
          </a:p>
        </p:txBody>
      </p:sp>
      <p:sp>
        <p:nvSpPr>
          <p:cNvPr id="11" name="Shape 8"/>
          <p:cNvSpPr/>
          <p:nvPr/>
        </p:nvSpPr>
        <p:spPr>
          <a:xfrm>
            <a:off x="7680960" y="4306824"/>
            <a:ext cx="91440" cy="91440"/>
          </a:xfrm>
          <a:prstGeom prst="ellipse">
            <a:avLst/>
          </a:prstGeom>
          <a:solidFill>
            <a:srgbClr val="D4AF37"/>
          </a:solidFill>
          <a:ln/>
        </p:spPr>
      </p:sp>
      <p:sp>
        <p:nvSpPr>
          <p:cNvPr id="12" name="Text 9"/>
          <p:cNvSpPr/>
          <p:nvPr/>
        </p:nvSpPr>
        <p:spPr>
          <a:xfrm>
            <a:off x="7891272" y="4178808"/>
            <a:ext cx="3840480" cy="777240"/>
          </a:xfrm>
          <a:prstGeom prst="rect">
            <a:avLst/>
          </a:prstGeom>
          <a:noFill/>
          <a:ln/>
        </p:spPr>
        <p:txBody>
          <a:bodyPr wrap="square" rtlCol="0" anchor="ctr"/>
          <a:lstStyle/>
          <a:p>
            <a:pPr indent="0" marL="0">
              <a:lnSpc>
                <a:spcPct val="120000"/>
              </a:lnSpc>
              <a:buNone/>
            </a:pPr>
            <a:r>
              <a:rPr lang="en-US" sz="1100" dirty="0">
                <a:solidFill>
                  <a:srgbClr val="1A1A2E"/>
                </a:solidFill>
                <a:latin typeface="Calibri" pitchFamily="34" charset="0"/>
                <a:ea typeface="Calibri" pitchFamily="34" charset="-122"/>
                <a:cs typeface="Calibri" pitchFamily="34" charset="-120"/>
              </a:rPr>
              <a:t>Screens and Budget show the same skew, hinting they will need outlier handling and scaling.</a:t>
            </a:r>
            <a:endParaRPr lang="en-US" sz="1100" dirty="0"/>
          </a:p>
        </p:txBody>
      </p:sp>
      <p:sp>
        <p:nvSpPr>
          <p:cNvPr id="13" name="Text 10"/>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03 · PREPROCESSING</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Cleaning the Raw Dataset</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Four checks applied before any modelling begins</a:t>
            </a:r>
            <a:endParaRPr lang="en-US" sz="1350" dirty="0"/>
          </a:p>
        </p:txBody>
      </p:sp>
      <p:sp>
        <p:nvSpPr>
          <p:cNvPr id="5" name="Shape 3"/>
          <p:cNvSpPr/>
          <p:nvPr/>
        </p:nvSpPr>
        <p:spPr>
          <a:xfrm>
            <a:off x="457200" y="1965960"/>
            <a:ext cx="11247120" cy="960120"/>
          </a:xfrm>
          <a:prstGeom prst="roundRect">
            <a:avLst>
              <a:gd name="adj" fmla="val 5714"/>
            </a:avLst>
          </a:prstGeom>
          <a:solidFill>
            <a:srgbClr val="F2F1F5"/>
          </a:solidFill>
          <a:ln w="9525">
            <a:solidFill>
              <a:srgbClr val="E3E1E8"/>
            </a:solidFill>
            <a:prstDash val="solid"/>
          </a:ln>
        </p:spPr>
      </p:sp>
      <p:sp>
        <p:nvSpPr>
          <p:cNvPr id="6" name="Shape 4"/>
          <p:cNvSpPr/>
          <p:nvPr/>
        </p:nvSpPr>
        <p:spPr>
          <a:xfrm>
            <a:off x="640080" y="2167128"/>
            <a:ext cx="548640" cy="548640"/>
          </a:xfrm>
          <a:prstGeom prst="ellipse">
            <a:avLst/>
          </a:prstGeom>
          <a:solidFill>
            <a:srgbClr val="8B1E3F"/>
          </a:solidFill>
          <a:ln/>
        </p:spPr>
      </p:sp>
      <p:sp>
        <p:nvSpPr>
          <p:cNvPr id="7" name="Text 5"/>
          <p:cNvSpPr/>
          <p:nvPr/>
        </p:nvSpPr>
        <p:spPr>
          <a:xfrm>
            <a:off x="640080" y="2167128"/>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1</a:t>
            </a:r>
            <a:endParaRPr lang="en-US" sz="1560" dirty="0"/>
          </a:p>
        </p:txBody>
      </p:sp>
      <p:sp>
        <p:nvSpPr>
          <p:cNvPr id="8" name="Text 6"/>
          <p:cNvSpPr/>
          <p:nvPr/>
        </p:nvSpPr>
        <p:spPr>
          <a:xfrm>
            <a:off x="1417320" y="2057400"/>
            <a:ext cx="2834640" cy="777240"/>
          </a:xfrm>
          <a:prstGeom prst="rect">
            <a:avLst/>
          </a:prstGeom>
          <a:noFill/>
          <a:ln/>
        </p:spPr>
        <p:txBody>
          <a:bodyPr wrap="square"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De-duplicate</a:t>
            </a:r>
            <a:endParaRPr lang="en-US" sz="1350" dirty="0"/>
          </a:p>
        </p:txBody>
      </p:sp>
      <p:sp>
        <p:nvSpPr>
          <p:cNvPr id="9" name="Text 7"/>
          <p:cNvSpPr/>
          <p:nvPr/>
        </p:nvSpPr>
        <p:spPr>
          <a:xfrm>
            <a:off x="4343400" y="2057400"/>
            <a:ext cx="3291840" cy="777240"/>
          </a:xfrm>
          <a:prstGeom prst="rect">
            <a:avLst/>
          </a:prstGeom>
          <a:noFill/>
          <a:ln/>
        </p:spPr>
        <p:txBody>
          <a:bodyPr wrap="square" rtlCol="0" anchor="ctr"/>
          <a:lstStyle/>
          <a:p>
            <a:pPr indent="0" marL="0">
              <a:buNone/>
            </a:pPr>
            <a:r>
              <a:rPr lang="en-US" sz="1000" i="1" dirty="0">
                <a:solidFill>
                  <a:srgbClr val="8B1E3F"/>
                </a:solidFill>
                <a:latin typeface="Courier New" pitchFamily="34" charset="0"/>
                <a:ea typeface="Courier New" pitchFamily="34" charset="-122"/>
                <a:cs typeface="Courier New" pitchFamily="34" charset="-120"/>
              </a:rPr>
              <a:t>df.drop_duplicates()</a:t>
            </a:r>
            <a:endParaRPr lang="en-US" sz="1000" dirty="0"/>
          </a:p>
        </p:txBody>
      </p:sp>
      <p:sp>
        <p:nvSpPr>
          <p:cNvPr id="10" name="Text 8"/>
          <p:cNvSpPr/>
          <p:nvPr/>
        </p:nvSpPr>
        <p:spPr>
          <a:xfrm>
            <a:off x="7772400" y="2057400"/>
            <a:ext cx="3794760" cy="777240"/>
          </a:xfrm>
          <a:prstGeom prst="rect">
            <a:avLst/>
          </a:prstGeom>
          <a:noFill/>
          <a:ln/>
        </p:spPr>
        <p:txBody>
          <a:bodyPr wrap="square" rtlCol="0" anchor="ctr"/>
          <a:lstStyle/>
          <a:p>
            <a:pPr indent="0" marL="0">
              <a:lnSpc>
                <a:spcPct val="115000"/>
              </a:lnSpc>
              <a:buNone/>
            </a:pPr>
            <a:r>
              <a:rPr lang="en-US" sz="1050" dirty="0">
                <a:solidFill>
                  <a:srgbClr val="6B6B7B"/>
                </a:solidFill>
                <a:latin typeface="Calibri" pitchFamily="34" charset="0"/>
                <a:ea typeface="Calibri" pitchFamily="34" charset="-122"/>
                <a:cs typeface="Calibri" pitchFamily="34" charset="-120"/>
              </a:rPr>
              <a:t>2 exact duplicate rows removed → 1,696 records remain</a:t>
            </a:r>
            <a:endParaRPr lang="en-US" sz="1050" dirty="0"/>
          </a:p>
        </p:txBody>
      </p:sp>
      <p:sp>
        <p:nvSpPr>
          <p:cNvPr id="11" name="Shape 9"/>
          <p:cNvSpPr/>
          <p:nvPr/>
        </p:nvSpPr>
        <p:spPr>
          <a:xfrm>
            <a:off x="457200" y="3063240"/>
            <a:ext cx="11247120" cy="960120"/>
          </a:xfrm>
          <a:prstGeom prst="roundRect">
            <a:avLst>
              <a:gd name="adj" fmla="val 5714"/>
            </a:avLst>
          </a:prstGeom>
          <a:solidFill>
            <a:srgbClr val="F2F1F5"/>
          </a:solidFill>
          <a:ln w="9525">
            <a:solidFill>
              <a:srgbClr val="E3E1E8"/>
            </a:solidFill>
            <a:prstDash val="solid"/>
          </a:ln>
        </p:spPr>
      </p:sp>
      <p:sp>
        <p:nvSpPr>
          <p:cNvPr id="12" name="Shape 10"/>
          <p:cNvSpPr/>
          <p:nvPr/>
        </p:nvSpPr>
        <p:spPr>
          <a:xfrm>
            <a:off x="640080" y="3264408"/>
            <a:ext cx="548640" cy="548640"/>
          </a:xfrm>
          <a:prstGeom prst="ellipse">
            <a:avLst/>
          </a:prstGeom>
          <a:solidFill>
            <a:srgbClr val="8B1E3F"/>
          </a:solidFill>
          <a:ln/>
        </p:spPr>
      </p:sp>
      <p:sp>
        <p:nvSpPr>
          <p:cNvPr id="13" name="Text 11"/>
          <p:cNvSpPr/>
          <p:nvPr/>
        </p:nvSpPr>
        <p:spPr>
          <a:xfrm>
            <a:off x="640080" y="3264408"/>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2</a:t>
            </a:r>
            <a:endParaRPr lang="en-US" sz="1560" dirty="0"/>
          </a:p>
        </p:txBody>
      </p:sp>
      <p:sp>
        <p:nvSpPr>
          <p:cNvPr id="14" name="Text 12"/>
          <p:cNvSpPr/>
          <p:nvPr/>
        </p:nvSpPr>
        <p:spPr>
          <a:xfrm>
            <a:off x="1417320" y="3154680"/>
            <a:ext cx="2834640" cy="777240"/>
          </a:xfrm>
          <a:prstGeom prst="rect">
            <a:avLst/>
          </a:prstGeom>
          <a:noFill/>
          <a:ln/>
        </p:spPr>
        <p:txBody>
          <a:bodyPr wrap="square"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Type-check numerics</a:t>
            </a:r>
            <a:endParaRPr lang="en-US" sz="1350" dirty="0"/>
          </a:p>
        </p:txBody>
      </p:sp>
      <p:sp>
        <p:nvSpPr>
          <p:cNvPr id="15" name="Text 13"/>
          <p:cNvSpPr/>
          <p:nvPr/>
        </p:nvSpPr>
        <p:spPr>
          <a:xfrm>
            <a:off x="4343400" y="3154680"/>
            <a:ext cx="3291840" cy="777240"/>
          </a:xfrm>
          <a:prstGeom prst="rect">
            <a:avLst/>
          </a:prstGeom>
          <a:noFill/>
          <a:ln/>
        </p:spPr>
        <p:txBody>
          <a:bodyPr wrap="square" rtlCol="0" anchor="ctr"/>
          <a:lstStyle/>
          <a:p>
            <a:pPr indent="0" marL="0">
              <a:buNone/>
            </a:pPr>
            <a:r>
              <a:rPr lang="en-US" sz="1000" i="1" dirty="0">
                <a:solidFill>
                  <a:srgbClr val="8B1E3F"/>
                </a:solidFill>
                <a:latin typeface="Courier New" pitchFamily="34" charset="0"/>
                <a:ea typeface="Courier New" pitchFamily="34" charset="-122"/>
                <a:cs typeface="Courier New" pitchFamily="34" charset="-120"/>
              </a:rPr>
              <a:t>pd.to_numeric(..., errors='coerce')</a:t>
            </a:r>
            <a:endParaRPr lang="en-US" sz="1000" dirty="0"/>
          </a:p>
        </p:txBody>
      </p:sp>
      <p:sp>
        <p:nvSpPr>
          <p:cNvPr id="16" name="Text 14"/>
          <p:cNvSpPr/>
          <p:nvPr/>
        </p:nvSpPr>
        <p:spPr>
          <a:xfrm>
            <a:off x="7772400" y="3154680"/>
            <a:ext cx="3794760" cy="777240"/>
          </a:xfrm>
          <a:prstGeom prst="rect">
            <a:avLst/>
          </a:prstGeom>
          <a:noFill/>
          <a:ln/>
        </p:spPr>
        <p:txBody>
          <a:bodyPr wrap="square" rtlCol="0" anchor="ctr"/>
          <a:lstStyle/>
          <a:p>
            <a:pPr indent="0" marL="0">
              <a:lnSpc>
                <a:spcPct val="115000"/>
              </a:lnSpc>
              <a:buNone/>
            </a:pPr>
            <a:r>
              <a:rPr lang="en-US" sz="1050" dirty="0">
                <a:solidFill>
                  <a:srgbClr val="6B6B7B"/>
                </a:solidFill>
                <a:latin typeface="Calibri" pitchFamily="34" charset="0"/>
                <a:ea typeface="Calibri" pitchFamily="34" charset="-122"/>
                <a:cs typeface="Calibri" pitchFamily="34" charset="-120"/>
              </a:rPr>
              <a:t>Confirms Screens, Revenue, Budget are clean integers; no negatives found</a:t>
            </a:r>
            <a:endParaRPr lang="en-US" sz="1050" dirty="0"/>
          </a:p>
        </p:txBody>
      </p:sp>
      <p:sp>
        <p:nvSpPr>
          <p:cNvPr id="17" name="Shape 15"/>
          <p:cNvSpPr/>
          <p:nvPr/>
        </p:nvSpPr>
        <p:spPr>
          <a:xfrm>
            <a:off x="457200" y="4160520"/>
            <a:ext cx="11247120" cy="960120"/>
          </a:xfrm>
          <a:prstGeom prst="roundRect">
            <a:avLst>
              <a:gd name="adj" fmla="val 5714"/>
            </a:avLst>
          </a:prstGeom>
          <a:solidFill>
            <a:srgbClr val="F2F1F5"/>
          </a:solidFill>
          <a:ln w="9525">
            <a:solidFill>
              <a:srgbClr val="E3E1E8"/>
            </a:solidFill>
            <a:prstDash val="solid"/>
          </a:ln>
        </p:spPr>
      </p:sp>
      <p:sp>
        <p:nvSpPr>
          <p:cNvPr id="18" name="Shape 16"/>
          <p:cNvSpPr/>
          <p:nvPr/>
        </p:nvSpPr>
        <p:spPr>
          <a:xfrm>
            <a:off x="640080" y="4361688"/>
            <a:ext cx="548640" cy="548640"/>
          </a:xfrm>
          <a:prstGeom prst="ellipse">
            <a:avLst/>
          </a:prstGeom>
          <a:solidFill>
            <a:srgbClr val="8B1E3F"/>
          </a:solidFill>
          <a:ln/>
        </p:spPr>
      </p:sp>
      <p:sp>
        <p:nvSpPr>
          <p:cNvPr id="19" name="Text 17"/>
          <p:cNvSpPr/>
          <p:nvPr/>
        </p:nvSpPr>
        <p:spPr>
          <a:xfrm>
            <a:off x="640080" y="4361688"/>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3</a:t>
            </a:r>
            <a:endParaRPr lang="en-US" sz="1560" dirty="0"/>
          </a:p>
        </p:txBody>
      </p:sp>
      <p:sp>
        <p:nvSpPr>
          <p:cNvPr id="20" name="Text 18"/>
          <p:cNvSpPr/>
          <p:nvPr/>
        </p:nvSpPr>
        <p:spPr>
          <a:xfrm>
            <a:off x="1417320" y="4251960"/>
            <a:ext cx="2834640" cy="777240"/>
          </a:xfrm>
          <a:prstGeom prst="rect">
            <a:avLst/>
          </a:prstGeom>
          <a:noFill/>
          <a:ln/>
        </p:spPr>
        <p:txBody>
          <a:bodyPr wrap="square"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Impute</a:t>
            </a:r>
            <a:endParaRPr lang="en-US" sz="1350" dirty="0"/>
          </a:p>
        </p:txBody>
      </p:sp>
      <p:sp>
        <p:nvSpPr>
          <p:cNvPr id="21" name="Text 19"/>
          <p:cNvSpPr/>
          <p:nvPr/>
        </p:nvSpPr>
        <p:spPr>
          <a:xfrm>
            <a:off x="4343400" y="4251960"/>
            <a:ext cx="3291840" cy="777240"/>
          </a:xfrm>
          <a:prstGeom prst="rect">
            <a:avLst/>
          </a:prstGeom>
          <a:noFill/>
          <a:ln/>
        </p:spPr>
        <p:txBody>
          <a:bodyPr wrap="square" rtlCol="0" anchor="ctr"/>
          <a:lstStyle/>
          <a:p>
            <a:pPr indent="0" marL="0">
              <a:buNone/>
            </a:pPr>
            <a:r>
              <a:rPr lang="en-US" sz="1000" i="1" dirty="0">
                <a:solidFill>
                  <a:srgbClr val="8B1E3F"/>
                </a:solidFill>
                <a:latin typeface="Courier New" pitchFamily="34" charset="0"/>
                <a:ea typeface="Courier New" pitchFamily="34" charset="-122"/>
                <a:cs typeface="Courier New" pitchFamily="34" charset="-120"/>
              </a:rPr>
              <a:t>median (numeric) · mode (categorical)</a:t>
            </a:r>
            <a:endParaRPr lang="en-US" sz="1000" dirty="0"/>
          </a:p>
        </p:txBody>
      </p:sp>
      <p:sp>
        <p:nvSpPr>
          <p:cNvPr id="22" name="Text 20"/>
          <p:cNvSpPr/>
          <p:nvPr/>
        </p:nvSpPr>
        <p:spPr>
          <a:xfrm>
            <a:off x="7772400" y="4251960"/>
            <a:ext cx="3794760" cy="777240"/>
          </a:xfrm>
          <a:prstGeom prst="rect">
            <a:avLst/>
          </a:prstGeom>
          <a:noFill/>
          <a:ln/>
        </p:spPr>
        <p:txBody>
          <a:bodyPr wrap="square" rtlCol="0" anchor="ctr"/>
          <a:lstStyle/>
          <a:p>
            <a:pPr indent="0" marL="0">
              <a:lnSpc>
                <a:spcPct val="115000"/>
              </a:lnSpc>
              <a:buNone/>
            </a:pPr>
            <a:r>
              <a:rPr lang="en-US" sz="1050" dirty="0">
                <a:solidFill>
                  <a:srgbClr val="6B6B7B"/>
                </a:solidFill>
                <a:latin typeface="Calibri" pitchFamily="34" charset="0"/>
                <a:ea typeface="Calibri" pitchFamily="34" charset="-122"/>
                <a:cs typeface="Calibri" pitchFamily="34" charset="-120"/>
              </a:rPr>
              <a:t>Applied defensively — the source columns had 0% missing</a:t>
            </a:r>
            <a:endParaRPr lang="en-US" sz="1050" dirty="0"/>
          </a:p>
        </p:txBody>
      </p:sp>
      <p:sp>
        <p:nvSpPr>
          <p:cNvPr id="23" name="Shape 21"/>
          <p:cNvSpPr/>
          <p:nvPr/>
        </p:nvSpPr>
        <p:spPr>
          <a:xfrm>
            <a:off x="457200" y="5257800"/>
            <a:ext cx="11247120" cy="960120"/>
          </a:xfrm>
          <a:prstGeom prst="roundRect">
            <a:avLst>
              <a:gd name="adj" fmla="val 5714"/>
            </a:avLst>
          </a:prstGeom>
          <a:solidFill>
            <a:srgbClr val="F2F1F5"/>
          </a:solidFill>
          <a:ln w="9525">
            <a:solidFill>
              <a:srgbClr val="E3E1E8"/>
            </a:solidFill>
            <a:prstDash val="solid"/>
          </a:ln>
        </p:spPr>
      </p:sp>
      <p:sp>
        <p:nvSpPr>
          <p:cNvPr id="24" name="Shape 22"/>
          <p:cNvSpPr/>
          <p:nvPr/>
        </p:nvSpPr>
        <p:spPr>
          <a:xfrm>
            <a:off x="640080" y="5458968"/>
            <a:ext cx="548640" cy="548640"/>
          </a:xfrm>
          <a:prstGeom prst="ellipse">
            <a:avLst/>
          </a:prstGeom>
          <a:solidFill>
            <a:srgbClr val="8B1E3F"/>
          </a:solidFill>
          <a:ln/>
        </p:spPr>
      </p:sp>
      <p:sp>
        <p:nvSpPr>
          <p:cNvPr id="25" name="Text 23"/>
          <p:cNvSpPr/>
          <p:nvPr/>
        </p:nvSpPr>
        <p:spPr>
          <a:xfrm>
            <a:off x="640080" y="5458968"/>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4</a:t>
            </a:r>
            <a:endParaRPr lang="en-US" sz="1560" dirty="0"/>
          </a:p>
        </p:txBody>
      </p:sp>
      <p:sp>
        <p:nvSpPr>
          <p:cNvPr id="26" name="Text 24"/>
          <p:cNvSpPr/>
          <p:nvPr/>
        </p:nvSpPr>
        <p:spPr>
          <a:xfrm>
            <a:off x="1417320" y="5349240"/>
            <a:ext cx="2834640" cy="777240"/>
          </a:xfrm>
          <a:prstGeom prst="rect">
            <a:avLst/>
          </a:prstGeom>
          <a:noFill/>
          <a:ln/>
        </p:spPr>
        <p:txBody>
          <a:bodyPr wrap="square" rtlCol="0" anchor="ctr"/>
          <a:lstStyle/>
          <a:p>
            <a:pPr indent="0" marL="0">
              <a:buNone/>
            </a:pPr>
            <a:r>
              <a:rPr lang="en-US" sz="1350" b="1" dirty="0">
                <a:solidFill>
                  <a:srgbClr val="1A1A2E"/>
                </a:solidFill>
                <a:latin typeface="Calibri" pitchFamily="34" charset="0"/>
                <a:ea typeface="Calibri" pitchFamily="34" charset="-122"/>
                <a:cs typeface="Calibri" pitchFamily="34" charset="-120"/>
              </a:rPr>
              <a:t>Flag outliers (IQR)</a:t>
            </a:r>
            <a:endParaRPr lang="en-US" sz="1350" dirty="0"/>
          </a:p>
        </p:txBody>
      </p:sp>
      <p:sp>
        <p:nvSpPr>
          <p:cNvPr id="27" name="Text 25"/>
          <p:cNvSpPr/>
          <p:nvPr/>
        </p:nvSpPr>
        <p:spPr>
          <a:xfrm>
            <a:off x="4343400" y="5349240"/>
            <a:ext cx="3291840" cy="777240"/>
          </a:xfrm>
          <a:prstGeom prst="rect">
            <a:avLst/>
          </a:prstGeom>
          <a:noFill/>
          <a:ln/>
        </p:spPr>
        <p:txBody>
          <a:bodyPr wrap="square" rtlCol="0" anchor="ctr"/>
          <a:lstStyle/>
          <a:p>
            <a:pPr indent="0" marL="0">
              <a:buNone/>
            </a:pPr>
            <a:r>
              <a:rPr lang="en-US" sz="1000" i="1" dirty="0">
                <a:solidFill>
                  <a:srgbClr val="8B1E3F"/>
                </a:solidFill>
                <a:latin typeface="Courier New" pitchFamily="34" charset="0"/>
                <a:ea typeface="Courier New" pitchFamily="34" charset="-122"/>
                <a:cs typeface="Courier New" pitchFamily="34" charset="-120"/>
              </a:rPr>
              <a:t>Q1 − 1.5·IQR  to  Q3 + 1.5·IQR</a:t>
            </a:r>
            <a:endParaRPr lang="en-US" sz="1000" dirty="0"/>
          </a:p>
        </p:txBody>
      </p:sp>
      <p:sp>
        <p:nvSpPr>
          <p:cNvPr id="28" name="Text 26"/>
          <p:cNvSpPr/>
          <p:nvPr/>
        </p:nvSpPr>
        <p:spPr>
          <a:xfrm>
            <a:off x="7772400" y="5349240"/>
            <a:ext cx="3794760" cy="777240"/>
          </a:xfrm>
          <a:prstGeom prst="rect">
            <a:avLst/>
          </a:prstGeom>
          <a:noFill/>
          <a:ln/>
        </p:spPr>
        <p:txBody>
          <a:bodyPr wrap="square" rtlCol="0" anchor="ctr"/>
          <a:lstStyle/>
          <a:p>
            <a:pPr indent="0" marL="0">
              <a:lnSpc>
                <a:spcPct val="115000"/>
              </a:lnSpc>
              <a:buNone/>
            </a:pPr>
            <a:r>
              <a:rPr lang="en-US" sz="1050" dirty="0">
                <a:solidFill>
                  <a:srgbClr val="6B6B7B"/>
                </a:solidFill>
                <a:latin typeface="Calibri" pitchFamily="34" charset="0"/>
                <a:ea typeface="Calibri" pitchFamily="34" charset="-122"/>
                <a:cs typeface="Calibri" pitchFamily="34" charset="-120"/>
              </a:rPr>
              <a:t>Screens: 117 · Revenue: 142 · Budget: 265 flagged, retained for modelling</a:t>
            </a:r>
            <a:endParaRPr lang="en-US" sz="1050" dirty="0"/>
          </a:p>
        </p:txBody>
      </p:sp>
      <p:sp>
        <p:nvSpPr>
          <p:cNvPr id="29" name="Text 27"/>
          <p:cNvSpPr/>
          <p:nvPr/>
        </p:nvSpPr>
        <p:spPr>
          <a:xfrm>
            <a:off x="457200" y="6172200"/>
            <a:ext cx="11247120" cy="320040"/>
          </a:xfrm>
          <a:prstGeom prst="rect">
            <a:avLst/>
          </a:prstGeom>
          <a:noFill/>
          <a:ln/>
        </p:spPr>
        <p:txBody>
          <a:bodyPr wrap="square" rtlCol="0" anchor="ctr"/>
          <a:lstStyle/>
          <a:p>
            <a:pPr indent="0" marL="0">
              <a:buNone/>
            </a:pPr>
            <a:r>
              <a:rPr lang="en-US" sz="1100" i="1" dirty="0">
                <a:solidFill>
                  <a:srgbClr val="8B1E3F"/>
                </a:solidFill>
                <a:latin typeface="Calibri" pitchFamily="34" charset="0"/>
                <a:ea typeface="Calibri" pitchFamily="34" charset="-122"/>
                <a:cs typeface="Calibri" pitchFamily="34" charset="-120"/>
              </a:rPr>
              <a:t>Cleaned output: cleaned_movie_data.csv — 1,696 rows × 14 columns, 0 missing, 0 duplicates</a:t>
            </a:r>
            <a:endParaRPr lang="en-US" sz="1100" dirty="0"/>
          </a:p>
        </p:txBody>
      </p:sp>
      <p:sp>
        <p:nvSpPr>
          <p:cNvPr id="30" name="Text 28"/>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31" name="Text 29"/>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04 · EDA</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Revenue Is Right-Skewed and Genre-Driven</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Histograms and category counts from the cleaned dataset</a:t>
            </a:r>
            <a:endParaRPr lang="en-US" sz="1350" dirty="0"/>
          </a:p>
        </p:txBody>
      </p:sp>
      <p:sp>
        <p:nvSpPr>
          <p:cNvPr id="5" name="Text 3"/>
          <p:cNvSpPr/>
          <p:nvPr/>
        </p:nvSpPr>
        <p:spPr>
          <a:xfrm>
            <a:off x="457200" y="1920240"/>
            <a:ext cx="5486400" cy="274320"/>
          </a:xfrm>
          <a:prstGeom prst="rect">
            <a:avLst/>
          </a:prstGeom>
          <a:noFill/>
          <a:ln/>
        </p:spPr>
        <p:txBody>
          <a:bodyPr wrap="square" rtlCol="0" anchor="ctr"/>
          <a:lstStyle/>
          <a:p>
            <a:pPr indent="0" marL="0">
              <a:buNone/>
            </a:pPr>
            <a:r>
              <a:rPr lang="en-US" sz="1250" b="1" dirty="0">
                <a:solidFill>
                  <a:srgbClr val="8B1E3F"/>
                </a:solidFill>
                <a:latin typeface="Calibri" pitchFamily="34" charset="0"/>
                <a:ea typeface="Calibri" pitchFamily="34" charset="-122"/>
                <a:cs typeface="Calibri" pitchFamily="34" charset="-120"/>
              </a:rPr>
              <a:t>Films by Genre</a:t>
            </a:r>
            <a:endParaRPr lang="en-US" sz="1250" dirty="0"/>
          </a:p>
        </p:txBody>
      </p:sp>
      <p:graphicFrame>
        <p:nvGraphicFramePr>
          <p:cNvPr id="6" name="Chart 0" descr=""/>
          <p:cNvGraphicFramePr/>
          <p:nvPr/>
        </p:nvGraphicFramePr>
        <p:xfrm>
          <a:off x="320040" y="2194560"/>
          <a:ext cx="5852160" cy="4114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92240" y="1920240"/>
            <a:ext cx="5212080" cy="274320"/>
          </a:xfrm>
          <a:prstGeom prst="rect">
            <a:avLst/>
          </a:prstGeom>
          <a:noFill/>
          <a:ln/>
        </p:spPr>
        <p:txBody>
          <a:bodyPr wrap="square" rtlCol="0" anchor="ctr"/>
          <a:lstStyle/>
          <a:p>
            <a:pPr indent="0" marL="0">
              <a:buNone/>
            </a:pPr>
            <a:r>
              <a:rPr lang="en-US" sz="1250" b="1" dirty="0">
                <a:solidFill>
                  <a:srgbClr val="8B1E3F"/>
                </a:solidFill>
                <a:latin typeface="Calibri" pitchFamily="34" charset="0"/>
                <a:ea typeface="Calibri" pitchFamily="34" charset="-122"/>
                <a:cs typeface="Calibri" pitchFamily="34" charset="-120"/>
              </a:rPr>
              <a:t>Release Timing &amp; Provenance</a:t>
            </a:r>
            <a:endParaRPr lang="en-US" sz="1250" dirty="0"/>
          </a:p>
        </p:txBody>
      </p:sp>
      <p:sp>
        <p:nvSpPr>
          <p:cNvPr id="8" name="Shape 5"/>
          <p:cNvSpPr/>
          <p:nvPr/>
        </p:nvSpPr>
        <p:spPr>
          <a:xfrm>
            <a:off x="6492240" y="2240280"/>
            <a:ext cx="2514600" cy="1051560"/>
          </a:xfrm>
          <a:prstGeom prst="roundRect">
            <a:avLst>
              <a:gd name="adj" fmla="val 6957"/>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9" name="Text 6"/>
          <p:cNvSpPr/>
          <p:nvPr/>
        </p:nvSpPr>
        <p:spPr>
          <a:xfrm>
            <a:off x="6601968" y="2368296"/>
            <a:ext cx="2295144" cy="484632"/>
          </a:xfrm>
          <a:prstGeom prst="rect">
            <a:avLst/>
          </a:prstGeom>
          <a:noFill/>
          <a:ln/>
        </p:spPr>
        <p:txBody>
          <a:bodyPr wrap="square" rtlCol="0" anchor="b"/>
          <a:lstStyle/>
          <a:p>
            <a:pPr algn="l" indent="0" marL="0">
              <a:buNone/>
            </a:pPr>
            <a:r>
              <a:rPr lang="en-US" sz="2000" b="1" dirty="0">
                <a:solidFill>
                  <a:srgbClr val="8B1E3F"/>
                </a:solidFill>
                <a:latin typeface="Cambria" pitchFamily="34" charset="0"/>
                <a:ea typeface="Cambria" pitchFamily="34" charset="-122"/>
                <a:cs typeface="Cambria" pitchFamily="34" charset="-120"/>
              </a:rPr>
              <a:t>1,063</a:t>
            </a:r>
            <a:endParaRPr lang="en-US" sz="2000" dirty="0"/>
          </a:p>
        </p:txBody>
      </p:sp>
      <p:sp>
        <p:nvSpPr>
          <p:cNvPr id="10" name="Text 7"/>
          <p:cNvSpPr/>
          <p:nvPr/>
        </p:nvSpPr>
        <p:spPr>
          <a:xfrm>
            <a:off x="6601968" y="2852928"/>
            <a:ext cx="229514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Normal-period releases (62.7%)</a:t>
            </a:r>
            <a:endParaRPr lang="en-US" sz="1050" dirty="0"/>
          </a:p>
        </p:txBody>
      </p:sp>
      <p:sp>
        <p:nvSpPr>
          <p:cNvPr id="11" name="Shape 8"/>
          <p:cNvSpPr/>
          <p:nvPr/>
        </p:nvSpPr>
        <p:spPr>
          <a:xfrm>
            <a:off x="9189720" y="2240280"/>
            <a:ext cx="2514600" cy="1051560"/>
          </a:xfrm>
          <a:prstGeom prst="roundRect">
            <a:avLst>
              <a:gd name="adj" fmla="val 6957"/>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2" name="Text 9"/>
          <p:cNvSpPr/>
          <p:nvPr/>
        </p:nvSpPr>
        <p:spPr>
          <a:xfrm>
            <a:off x="9299448" y="2368296"/>
            <a:ext cx="2295144" cy="484632"/>
          </a:xfrm>
          <a:prstGeom prst="rect">
            <a:avLst/>
          </a:prstGeom>
          <a:noFill/>
          <a:ln/>
        </p:spPr>
        <p:txBody>
          <a:bodyPr wrap="square" rtlCol="0" anchor="b"/>
          <a:lstStyle/>
          <a:p>
            <a:pPr algn="l" indent="0" marL="0">
              <a:buNone/>
            </a:pPr>
            <a:r>
              <a:rPr lang="en-US" sz="2000" b="1" dirty="0">
                <a:solidFill>
                  <a:srgbClr val="8B1E3F"/>
                </a:solidFill>
                <a:latin typeface="Cambria" pitchFamily="34" charset="0"/>
                <a:ea typeface="Cambria" pitchFamily="34" charset="-122"/>
                <a:cs typeface="Cambria" pitchFamily="34" charset="-120"/>
              </a:rPr>
              <a:t>633</a:t>
            </a:r>
            <a:endParaRPr lang="en-US" sz="2000" dirty="0"/>
          </a:p>
        </p:txBody>
      </p:sp>
      <p:sp>
        <p:nvSpPr>
          <p:cNvPr id="13" name="Text 10"/>
          <p:cNvSpPr/>
          <p:nvPr/>
        </p:nvSpPr>
        <p:spPr>
          <a:xfrm>
            <a:off x="9299448" y="2852928"/>
            <a:ext cx="229514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Holiday-period releases (37.3%)</a:t>
            </a:r>
            <a:endParaRPr lang="en-US" sz="1050" dirty="0"/>
          </a:p>
        </p:txBody>
      </p:sp>
      <p:sp>
        <p:nvSpPr>
          <p:cNvPr id="14" name="Shape 11"/>
          <p:cNvSpPr/>
          <p:nvPr/>
        </p:nvSpPr>
        <p:spPr>
          <a:xfrm>
            <a:off x="6492240" y="3429000"/>
            <a:ext cx="2514600" cy="1051560"/>
          </a:xfrm>
          <a:prstGeom prst="roundRect">
            <a:avLst>
              <a:gd name="adj" fmla="val 6957"/>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5" name="Text 12"/>
          <p:cNvSpPr/>
          <p:nvPr/>
        </p:nvSpPr>
        <p:spPr>
          <a:xfrm>
            <a:off x="6601968" y="3557016"/>
            <a:ext cx="2295144" cy="484632"/>
          </a:xfrm>
          <a:prstGeom prst="rect">
            <a:avLst/>
          </a:prstGeom>
          <a:noFill/>
          <a:ln/>
        </p:spPr>
        <p:txBody>
          <a:bodyPr wrap="square" rtlCol="0" anchor="b"/>
          <a:lstStyle/>
          <a:p>
            <a:pPr algn="l" indent="0" marL="0">
              <a:buNone/>
            </a:pPr>
            <a:r>
              <a:rPr lang="en-US" sz="2000" b="1" dirty="0">
                <a:solidFill>
                  <a:srgbClr val="8B1E3F"/>
                </a:solidFill>
                <a:latin typeface="Cambria" pitchFamily="34" charset="0"/>
                <a:ea typeface="Cambria" pitchFamily="34" charset="-122"/>
                <a:cs typeface="Cambria" pitchFamily="34" charset="-120"/>
              </a:rPr>
              <a:t>70</a:t>
            </a:r>
            <a:endParaRPr lang="en-US" sz="2000" dirty="0"/>
          </a:p>
        </p:txBody>
      </p:sp>
      <p:sp>
        <p:nvSpPr>
          <p:cNvPr id="16" name="Text 13"/>
          <p:cNvSpPr/>
          <p:nvPr/>
        </p:nvSpPr>
        <p:spPr>
          <a:xfrm>
            <a:off x="6601968" y="4041648"/>
            <a:ext cx="229514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Remakes  ·  1,626 originals</a:t>
            </a:r>
            <a:endParaRPr lang="en-US" sz="1050" dirty="0"/>
          </a:p>
        </p:txBody>
      </p:sp>
      <p:sp>
        <p:nvSpPr>
          <p:cNvPr id="17" name="Shape 14"/>
          <p:cNvSpPr/>
          <p:nvPr/>
        </p:nvSpPr>
        <p:spPr>
          <a:xfrm>
            <a:off x="9189720" y="3429000"/>
            <a:ext cx="2514600" cy="1051560"/>
          </a:xfrm>
          <a:prstGeom prst="roundRect">
            <a:avLst>
              <a:gd name="adj" fmla="val 6957"/>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8" name="Text 15"/>
          <p:cNvSpPr/>
          <p:nvPr/>
        </p:nvSpPr>
        <p:spPr>
          <a:xfrm>
            <a:off x="9299448" y="3557016"/>
            <a:ext cx="2295144" cy="484632"/>
          </a:xfrm>
          <a:prstGeom prst="rect">
            <a:avLst/>
          </a:prstGeom>
          <a:noFill/>
          <a:ln/>
        </p:spPr>
        <p:txBody>
          <a:bodyPr wrap="square" rtlCol="0" anchor="b"/>
          <a:lstStyle/>
          <a:p>
            <a:pPr algn="l" indent="0" marL="0">
              <a:buNone/>
            </a:pPr>
            <a:r>
              <a:rPr lang="en-US" sz="2000" b="1" dirty="0">
                <a:solidFill>
                  <a:srgbClr val="8B1E3F"/>
                </a:solidFill>
                <a:latin typeface="Cambria" pitchFamily="34" charset="0"/>
                <a:ea typeface="Cambria" pitchFamily="34" charset="-122"/>
                <a:cs typeface="Cambria" pitchFamily="34" charset="-120"/>
              </a:rPr>
              <a:t>82</a:t>
            </a:r>
            <a:endParaRPr lang="en-US" sz="2000" dirty="0"/>
          </a:p>
        </p:txBody>
      </p:sp>
      <p:sp>
        <p:nvSpPr>
          <p:cNvPr id="19" name="Text 16"/>
          <p:cNvSpPr/>
          <p:nvPr/>
        </p:nvSpPr>
        <p:spPr>
          <a:xfrm>
            <a:off x="9299448" y="4041648"/>
            <a:ext cx="229514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Franchise films  ·  1,614 standalone</a:t>
            </a:r>
            <a:endParaRPr lang="en-US" sz="1050" dirty="0"/>
          </a:p>
        </p:txBody>
      </p:sp>
      <p:sp>
        <p:nvSpPr>
          <p:cNvPr id="20" name="Shape 17"/>
          <p:cNvSpPr/>
          <p:nvPr/>
        </p:nvSpPr>
        <p:spPr>
          <a:xfrm>
            <a:off x="6492240" y="4617720"/>
            <a:ext cx="2514600" cy="1051560"/>
          </a:xfrm>
          <a:prstGeom prst="roundRect">
            <a:avLst>
              <a:gd name="adj" fmla="val 6957"/>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21" name="Text 18"/>
          <p:cNvSpPr/>
          <p:nvPr/>
        </p:nvSpPr>
        <p:spPr>
          <a:xfrm>
            <a:off x="6601968" y="4745736"/>
            <a:ext cx="2295144" cy="484632"/>
          </a:xfrm>
          <a:prstGeom prst="rect">
            <a:avLst/>
          </a:prstGeom>
          <a:noFill/>
          <a:ln/>
        </p:spPr>
        <p:txBody>
          <a:bodyPr wrap="square" rtlCol="0" anchor="b"/>
          <a:lstStyle/>
          <a:p>
            <a:pPr algn="l" indent="0" marL="0">
              <a:buNone/>
            </a:pPr>
            <a:r>
              <a:rPr lang="en-US" sz="2000" b="1" dirty="0">
                <a:solidFill>
                  <a:srgbClr val="8B1E3F"/>
                </a:solidFill>
                <a:latin typeface="Cambria" pitchFamily="34" charset="0"/>
                <a:ea typeface="Cambria" pitchFamily="34" charset="-122"/>
                <a:cs typeface="Cambria" pitchFamily="34" charset="-120"/>
              </a:rPr>
              <a:t>815</a:t>
            </a:r>
            <a:endParaRPr lang="en-US" sz="2000" dirty="0"/>
          </a:p>
        </p:txBody>
      </p:sp>
      <p:sp>
        <p:nvSpPr>
          <p:cNvPr id="22" name="Text 19"/>
          <p:cNvSpPr/>
          <p:nvPr/>
        </p:nvSpPr>
        <p:spPr>
          <a:xfrm>
            <a:off x="6601968" y="5230368"/>
            <a:ext cx="229514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New (debut) directors  ·  881 experienced</a:t>
            </a:r>
            <a:endParaRPr lang="en-US" sz="1050" dirty="0"/>
          </a:p>
        </p:txBody>
      </p:sp>
      <p:sp>
        <p:nvSpPr>
          <p:cNvPr id="23" name="Shape 20"/>
          <p:cNvSpPr/>
          <p:nvPr/>
        </p:nvSpPr>
        <p:spPr>
          <a:xfrm>
            <a:off x="9189720" y="4617720"/>
            <a:ext cx="2514600" cy="1051560"/>
          </a:xfrm>
          <a:prstGeom prst="roundRect">
            <a:avLst>
              <a:gd name="adj" fmla="val 6957"/>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24" name="Text 21"/>
          <p:cNvSpPr/>
          <p:nvPr/>
        </p:nvSpPr>
        <p:spPr>
          <a:xfrm>
            <a:off x="9299448" y="4745736"/>
            <a:ext cx="2295144" cy="484632"/>
          </a:xfrm>
          <a:prstGeom prst="rect">
            <a:avLst/>
          </a:prstGeom>
          <a:noFill/>
          <a:ln/>
        </p:spPr>
        <p:txBody>
          <a:bodyPr wrap="square" rtlCol="0" anchor="b"/>
          <a:lstStyle/>
          <a:p>
            <a:pPr algn="l" indent="0" marL="0">
              <a:buNone/>
            </a:pPr>
            <a:r>
              <a:rPr lang="en-US" sz="2000" b="1" dirty="0">
                <a:solidFill>
                  <a:srgbClr val="8B1E3F"/>
                </a:solidFill>
                <a:latin typeface="Cambria" pitchFamily="34" charset="0"/>
                <a:ea typeface="Cambria" pitchFamily="34" charset="-122"/>
                <a:cs typeface="Cambria" pitchFamily="34" charset="-120"/>
              </a:rPr>
              <a:t>554</a:t>
            </a:r>
            <a:endParaRPr lang="en-US" sz="2000" dirty="0"/>
          </a:p>
        </p:txBody>
      </p:sp>
      <p:sp>
        <p:nvSpPr>
          <p:cNvPr id="25" name="Text 22"/>
          <p:cNvSpPr/>
          <p:nvPr/>
        </p:nvSpPr>
        <p:spPr>
          <a:xfrm>
            <a:off x="9299448" y="5230368"/>
            <a:ext cx="229514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New music directors  ·  1,142 experienced</a:t>
            </a:r>
            <a:endParaRPr lang="en-US" sz="1050" dirty="0"/>
          </a:p>
        </p:txBody>
      </p:sp>
      <p:sp>
        <p:nvSpPr>
          <p:cNvPr id="26" name="Text 23"/>
          <p:cNvSpPr/>
          <p:nvPr/>
        </p:nvSpPr>
        <p:spPr>
          <a:xfrm>
            <a:off x="6492240" y="5806440"/>
            <a:ext cx="5212080" cy="685800"/>
          </a:xfrm>
          <a:prstGeom prst="rect">
            <a:avLst/>
          </a:prstGeom>
          <a:noFill/>
          <a:ln/>
        </p:spPr>
        <p:txBody>
          <a:bodyPr wrap="square" rtlCol="0" anchor="ctr"/>
          <a:lstStyle/>
          <a:p>
            <a:pPr indent="0" marL="0">
              <a:lnSpc>
                <a:spcPct val="120000"/>
              </a:lnSpc>
              <a:buNone/>
            </a:pPr>
            <a:r>
              <a:rPr lang="en-US" sz="1050" i="1" dirty="0">
                <a:solidFill>
                  <a:srgbClr val="6B6B7B"/>
                </a:solidFill>
                <a:latin typeface="Calibri" pitchFamily="34" charset="0"/>
                <a:ea typeface="Calibri" pitchFamily="34" charset="-122"/>
                <a:cs typeface="Calibri" pitchFamily="34" charset="-120"/>
              </a:rPr>
              <a:t>Drama and comedy dominate volume, but as the next slides show, scale (screens, budget) and star power drive revenue far more than genre alone.</a:t>
            </a:r>
            <a:endParaRPr lang="en-US" sz="1050" dirty="0"/>
          </a:p>
        </p:txBody>
      </p:sp>
      <p:sp>
        <p:nvSpPr>
          <p:cNvPr id="27" name="Text 24"/>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28" name="Text 25"/>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04 · EDA</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Screens and Budget Are the Strongest Signals</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Pearson correlation among the three numeric variables</a:t>
            </a:r>
            <a:endParaRPr lang="en-US" sz="1350" dirty="0"/>
          </a:p>
        </p:txBody>
      </p:sp>
      <p:graphicFrame>
        <p:nvGraphicFramePr>
          <p:cNvPr id="5" name="Chart 0" descr=""/>
          <p:cNvGraphicFramePr/>
          <p:nvPr/>
        </p:nvGraphicFramePr>
        <p:xfrm>
          <a:off x="457200" y="2057400"/>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720840" y="2057400"/>
            <a:ext cx="493776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What it means</a:t>
            </a:r>
            <a:endParaRPr lang="en-US" sz="1300" dirty="0"/>
          </a:p>
        </p:txBody>
      </p:sp>
      <p:sp>
        <p:nvSpPr>
          <p:cNvPr id="7" name="Text 4"/>
          <p:cNvSpPr/>
          <p:nvPr/>
        </p:nvSpPr>
        <p:spPr>
          <a:xfrm>
            <a:off x="6720840" y="2514600"/>
            <a:ext cx="4937760" cy="27432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Number_of_Screens → Revenue</a:t>
            </a:r>
            <a:endParaRPr lang="en-US" sz="1200" dirty="0"/>
          </a:p>
        </p:txBody>
      </p:sp>
      <p:sp>
        <p:nvSpPr>
          <p:cNvPr id="8" name="Text 5"/>
          <p:cNvSpPr/>
          <p:nvPr/>
        </p:nvSpPr>
        <p:spPr>
          <a:xfrm>
            <a:off x="6720840" y="2807208"/>
            <a:ext cx="4937760" cy="640080"/>
          </a:xfrm>
          <a:prstGeom prst="rect">
            <a:avLst/>
          </a:prstGeom>
          <a:noFill/>
          <a:ln/>
        </p:spPr>
        <p:txBody>
          <a:bodyPr wrap="square" rtlCol="0" anchor="ctr"/>
          <a:lstStyle/>
          <a:p>
            <a:pPr indent="0" marL="0">
              <a:lnSpc>
                <a:spcPct val="120000"/>
              </a:lnSpc>
              <a:buNone/>
            </a:pPr>
            <a:r>
              <a:rPr lang="en-US" sz="1050" dirty="0">
                <a:solidFill>
                  <a:srgbClr val="6B6B7B"/>
                </a:solidFill>
                <a:latin typeface="Calibri" pitchFamily="34" charset="0"/>
                <a:ea typeface="Calibri" pitchFamily="34" charset="-122"/>
                <a:cs typeface="Calibri" pitchFamily="34" charset="-120"/>
              </a:rPr>
              <a:t>r = 0.90 — the single strongest predictor; distribution scale is set by exhibitors' confidence.</a:t>
            </a:r>
            <a:endParaRPr lang="en-US" sz="1050" dirty="0"/>
          </a:p>
        </p:txBody>
      </p:sp>
      <p:sp>
        <p:nvSpPr>
          <p:cNvPr id="9" name="Text 6"/>
          <p:cNvSpPr/>
          <p:nvPr/>
        </p:nvSpPr>
        <p:spPr>
          <a:xfrm>
            <a:off x="6720840" y="3566160"/>
            <a:ext cx="4937760" cy="27432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Budget(INR) → Revenue</a:t>
            </a:r>
            <a:endParaRPr lang="en-US" sz="1200" dirty="0"/>
          </a:p>
        </p:txBody>
      </p:sp>
      <p:sp>
        <p:nvSpPr>
          <p:cNvPr id="10" name="Text 7"/>
          <p:cNvSpPr/>
          <p:nvPr/>
        </p:nvSpPr>
        <p:spPr>
          <a:xfrm>
            <a:off x="6720840" y="3858768"/>
            <a:ext cx="4937760" cy="640080"/>
          </a:xfrm>
          <a:prstGeom prst="rect">
            <a:avLst/>
          </a:prstGeom>
          <a:noFill/>
          <a:ln/>
        </p:spPr>
        <p:txBody>
          <a:bodyPr wrap="square" rtlCol="0" anchor="ctr"/>
          <a:lstStyle/>
          <a:p>
            <a:pPr indent="0" marL="0">
              <a:lnSpc>
                <a:spcPct val="120000"/>
              </a:lnSpc>
              <a:buNone/>
            </a:pPr>
            <a:r>
              <a:rPr lang="en-US" sz="1050" dirty="0">
                <a:solidFill>
                  <a:srgbClr val="6B6B7B"/>
                </a:solidFill>
                <a:latin typeface="Calibri" pitchFamily="34" charset="0"/>
                <a:ea typeface="Calibri" pitchFamily="34" charset="-122"/>
                <a:cs typeface="Calibri" pitchFamily="34" charset="-120"/>
              </a:rPr>
              <a:t>r = 0.84 — bigger productions correlate with bigger box office, but with more variance.</a:t>
            </a:r>
            <a:endParaRPr lang="en-US" sz="1050" dirty="0"/>
          </a:p>
        </p:txBody>
      </p:sp>
      <p:sp>
        <p:nvSpPr>
          <p:cNvPr id="11" name="Text 8"/>
          <p:cNvSpPr/>
          <p:nvPr/>
        </p:nvSpPr>
        <p:spPr>
          <a:xfrm>
            <a:off x="6720840" y="4617720"/>
            <a:ext cx="4937760" cy="274320"/>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Screens ↔ Budget</a:t>
            </a:r>
            <a:endParaRPr lang="en-US" sz="1200" dirty="0"/>
          </a:p>
        </p:txBody>
      </p:sp>
      <p:sp>
        <p:nvSpPr>
          <p:cNvPr id="12" name="Text 9"/>
          <p:cNvSpPr/>
          <p:nvPr/>
        </p:nvSpPr>
        <p:spPr>
          <a:xfrm>
            <a:off x="6720840" y="4910328"/>
            <a:ext cx="4937760" cy="640080"/>
          </a:xfrm>
          <a:prstGeom prst="rect">
            <a:avLst/>
          </a:prstGeom>
          <a:noFill/>
          <a:ln/>
        </p:spPr>
        <p:txBody>
          <a:bodyPr wrap="square" rtlCol="0" anchor="ctr"/>
          <a:lstStyle/>
          <a:p>
            <a:pPr indent="0" marL="0">
              <a:lnSpc>
                <a:spcPct val="120000"/>
              </a:lnSpc>
              <a:buNone/>
            </a:pPr>
            <a:r>
              <a:rPr lang="en-US" sz="1050" dirty="0">
                <a:solidFill>
                  <a:srgbClr val="6B6B7B"/>
                </a:solidFill>
                <a:latin typeface="Calibri" pitchFamily="34" charset="0"/>
                <a:ea typeface="Calibri" pitchFamily="34" charset="-122"/>
                <a:cs typeface="Calibri" pitchFamily="34" charset="-120"/>
              </a:rPr>
              <a:t>r = 0.78 — the two inputs are themselves correlated, a multicollinearity signal for the model.</a:t>
            </a:r>
            <a:endParaRPr lang="en-US" sz="1050" dirty="0"/>
          </a:p>
        </p:txBody>
      </p:sp>
      <p:sp>
        <p:nvSpPr>
          <p:cNvPr id="13" name="Shape 10"/>
          <p:cNvSpPr/>
          <p:nvPr/>
        </p:nvSpPr>
        <p:spPr>
          <a:xfrm>
            <a:off x="457200" y="5577840"/>
            <a:ext cx="6035040" cy="777240"/>
          </a:xfrm>
          <a:prstGeom prst="roundRect">
            <a:avLst>
              <a:gd name="adj" fmla="val 7059"/>
            </a:avLst>
          </a:prstGeom>
          <a:solidFill>
            <a:srgbClr val="F2F1F5"/>
          </a:solidFill>
          <a:ln w="9525">
            <a:solidFill>
              <a:srgbClr val="E3E1E8"/>
            </a:solidFill>
            <a:prstDash val="solid"/>
          </a:ln>
        </p:spPr>
      </p:sp>
      <p:sp>
        <p:nvSpPr>
          <p:cNvPr id="14" name="Text 11"/>
          <p:cNvSpPr/>
          <p:nvPr/>
        </p:nvSpPr>
        <p:spPr>
          <a:xfrm>
            <a:off x="640080" y="5650992"/>
            <a:ext cx="5669280" cy="640080"/>
          </a:xfrm>
          <a:prstGeom prst="rect">
            <a:avLst/>
          </a:prstGeom>
          <a:noFill/>
          <a:ln/>
        </p:spPr>
        <p:txBody>
          <a:bodyPr wrap="square" rtlCol="0" anchor="ctr"/>
          <a:lstStyle/>
          <a:p>
            <a:pPr indent="0" marL="0">
              <a:lnSpc>
                <a:spcPct val="115000"/>
              </a:lnSpc>
              <a:buNone/>
            </a:pPr>
            <a:r>
              <a:rPr lang="en-US" sz="1000" i="1" dirty="0">
                <a:solidFill>
                  <a:srgbClr val="1A1A2E"/>
                </a:solidFill>
                <a:latin typeface="Calibri" pitchFamily="34" charset="0"/>
                <a:ea typeface="Calibri" pitchFamily="34" charset="-122"/>
                <a:cs typeface="Calibri" pitchFamily="34" charset="-120"/>
              </a:rPr>
              <a:t>Box-office scale (screens × budget) explains most of the variance — the modelling challenge is capturing what moves revenue within that scale: cast, genre, timing.</a:t>
            </a:r>
            <a:endParaRPr lang="en-US" sz="1000" dirty="0"/>
          </a:p>
        </p:txBody>
      </p:sp>
      <p:sp>
        <p:nvSpPr>
          <p:cNvPr id="15" name="Text 12"/>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16" name="Text 1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05 · FEATURE ENGINEERING</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From 12 Raw Columns to 2,460 Model Features</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One-hot encoding turns high-cardinality categoricals into usable inputs</a:t>
            </a:r>
            <a:endParaRPr lang="en-US" sz="1350" dirty="0"/>
          </a:p>
        </p:txBody>
      </p:sp>
      <p:sp>
        <p:nvSpPr>
          <p:cNvPr id="5" name="Shape 3"/>
          <p:cNvSpPr/>
          <p:nvPr/>
        </p:nvSpPr>
        <p:spPr>
          <a:xfrm>
            <a:off x="457200" y="2011680"/>
            <a:ext cx="5212080" cy="3931920"/>
          </a:xfrm>
          <a:prstGeom prst="roundRect">
            <a:avLst>
              <a:gd name="adj" fmla="val 1860"/>
            </a:avLst>
          </a:prstGeom>
          <a:solidFill>
            <a:srgbClr val="F2F1F5"/>
          </a:solidFill>
          <a:ln w="9525">
            <a:solidFill>
              <a:srgbClr val="E3E1E8"/>
            </a:solidFill>
            <a:prstDash val="solid"/>
          </a:ln>
        </p:spPr>
      </p:sp>
      <p:sp>
        <p:nvSpPr>
          <p:cNvPr id="6" name="Text 4"/>
          <p:cNvSpPr/>
          <p:nvPr/>
        </p:nvSpPr>
        <p:spPr>
          <a:xfrm>
            <a:off x="777240" y="2240280"/>
            <a:ext cx="4572000" cy="274320"/>
          </a:xfrm>
          <a:prstGeom prst="rect">
            <a:avLst/>
          </a:prstGeom>
          <a:noFill/>
          <a:ln/>
        </p:spPr>
        <p:txBody>
          <a:bodyPr wrap="square" rtlCol="0" anchor="ctr"/>
          <a:lstStyle/>
          <a:p>
            <a:pPr indent="0" marL="0">
              <a:buNone/>
            </a:pPr>
            <a:r>
              <a:rPr lang="en-US" sz="1100" b="1" spc="150" kern="0" dirty="0">
                <a:solidFill>
                  <a:srgbClr val="6B6B7B"/>
                </a:solidFill>
                <a:latin typeface="Calibri" pitchFamily="34" charset="0"/>
                <a:ea typeface="Calibri" pitchFamily="34" charset="-122"/>
                <a:cs typeface="Calibri" pitchFamily="34" charset="-120"/>
              </a:rPr>
              <a:t>BEFORE ENCODING</a:t>
            </a:r>
            <a:endParaRPr lang="en-US" sz="1100" dirty="0"/>
          </a:p>
        </p:txBody>
      </p:sp>
      <p:sp>
        <p:nvSpPr>
          <p:cNvPr id="7" name="Text 5"/>
          <p:cNvSpPr/>
          <p:nvPr/>
        </p:nvSpPr>
        <p:spPr>
          <a:xfrm>
            <a:off x="777240" y="2514600"/>
            <a:ext cx="4572000" cy="822960"/>
          </a:xfrm>
          <a:prstGeom prst="rect">
            <a:avLst/>
          </a:prstGeom>
          <a:noFill/>
          <a:ln/>
        </p:spPr>
        <p:txBody>
          <a:bodyPr wrap="square" rtlCol="0" anchor="ctr"/>
          <a:lstStyle/>
          <a:p>
            <a:pPr indent="0" marL="0">
              <a:buNone/>
            </a:pPr>
            <a:r>
              <a:rPr lang="en-US" sz="4600" b="1" dirty="0">
                <a:solidFill>
                  <a:srgbClr val="1A1A2E"/>
                </a:solidFill>
                <a:latin typeface="Cambria" pitchFamily="34" charset="0"/>
                <a:ea typeface="Cambria" pitchFamily="34" charset="-122"/>
                <a:cs typeface="Cambria" pitchFamily="34" charset="-120"/>
              </a:rPr>
              <a:t>12</a:t>
            </a:r>
            <a:endParaRPr lang="en-US" sz="4600" dirty="0"/>
          </a:p>
        </p:txBody>
      </p:sp>
      <p:sp>
        <p:nvSpPr>
          <p:cNvPr id="8" name="Text 6"/>
          <p:cNvSpPr/>
          <p:nvPr/>
        </p:nvSpPr>
        <p:spPr>
          <a:xfrm>
            <a:off x="777240" y="3246120"/>
            <a:ext cx="4572000" cy="365760"/>
          </a:xfrm>
          <a:prstGeom prst="rect">
            <a:avLst/>
          </a:prstGeom>
          <a:noFill/>
          <a:ln/>
        </p:spPr>
        <p:txBody>
          <a:bodyPr wrap="square" rtlCol="0" anchor="ctr"/>
          <a:lstStyle/>
          <a:p>
            <a:pPr indent="0" marL="0">
              <a:buNone/>
            </a:pPr>
            <a:r>
              <a:rPr lang="en-US" sz="1150" dirty="0">
                <a:solidFill>
                  <a:srgbClr val="6B6B7B"/>
                </a:solidFill>
                <a:latin typeface="Calibri" pitchFamily="34" charset="0"/>
                <a:ea typeface="Calibri" pitchFamily="34" charset="-122"/>
                <a:cs typeface="Calibri" pitchFamily="34" charset="-120"/>
              </a:rPr>
              <a:t>input columns (Movie_Name and Revenue removed)</a:t>
            </a:r>
            <a:endParaRPr lang="en-US" sz="1150" dirty="0"/>
          </a:p>
        </p:txBody>
      </p:sp>
      <p:sp>
        <p:nvSpPr>
          <p:cNvPr id="9" name="Shape 7"/>
          <p:cNvSpPr/>
          <p:nvPr/>
        </p:nvSpPr>
        <p:spPr>
          <a:xfrm>
            <a:off x="777240" y="3849624"/>
            <a:ext cx="82296" cy="82296"/>
          </a:xfrm>
          <a:prstGeom prst="ellipse">
            <a:avLst/>
          </a:prstGeom>
          <a:solidFill>
            <a:srgbClr val="8B1E3F"/>
          </a:solidFill>
          <a:ln/>
        </p:spPr>
      </p:sp>
      <p:sp>
        <p:nvSpPr>
          <p:cNvPr id="10" name="Text 8"/>
          <p:cNvSpPr/>
          <p:nvPr/>
        </p:nvSpPr>
        <p:spPr>
          <a:xfrm>
            <a:off x="960120" y="3721608"/>
            <a:ext cx="4480560" cy="502920"/>
          </a:xfrm>
          <a:prstGeom prst="rect">
            <a:avLst/>
          </a:prstGeom>
          <a:noFill/>
          <a:ln/>
        </p:spPr>
        <p:txBody>
          <a:bodyPr wrap="square" rtlCol="0" anchor="ctr"/>
          <a:lstStyle/>
          <a:p>
            <a:pPr indent="0" marL="0">
              <a:lnSpc>
                <a:spcPct val="115000"/>
              </a:lnSpc>
              <a:buNone/>
            </a:pPr>
            <a:r>
              <a:rPr lang="en-US" sz="1100" dirty="0">
                <a:solidFill>
                  <a:srgbClr val="1A1A2E"/>
                </a:solidFill>
                <a:latin typeface="Calibri" pitchFamily="34" charset="0"/>
                <a:ea typeface="Calibri" pitchFamily="34" charset="-122"/>
                <a:cs typeface="Calibri" pitchFamily="34" charset="-120"/>
              </a:rPr>
              <a:t>2 numeric: Number_of_Screens, Budget(INR)</a:t>
            </a:r>
            <a:endParaRPr lang="en-US" sz="1100" dirty="0"/>
          </a:p>
        </p:txBody>
      </p:sp>
      <p:sp>
        <p:nvSpPr>
          <p:cNvPr id="11" name="Shape 9"/>
          <p:cNvSpPr/>
          <p:nvPr/>
        </p:nvSpPr>
        <p:spPr>
          <a:xfrm>
            <a:off x="777240" y="4507992"/>
            <a:ext cx="82296" cy="82296"/>
          </a:xfrm>
          <a:prstGeom prst="ellipse">
            <a:avLst/>
          </a:prstGeom>
          <a:solidFill>
            <a:srgbClr val="8B1E3F"/>
          </a:solidFill>
          <a:ln/>
        </p:spPr>
      </p:sp>
      <p:sp>
        <p:nvSpPr>
          <p:cNvPr id="12" name="Text 10"/>
          <p:cNvSpPr/>
          <p:nvPr/>
        </p:nvSpPr>
        <p:spPr>
          <a:xfrm>
            <a:off x="960120" y="4379976"/>
            <a:ext cx="4480560" cy="502920"/>
          </a:xfrm>
          <a:prstGeom prst="rect">
            <a:avLst/>
          </a:prstGeom>
          <a:noFill/>
          <a:ln/>
        </p:spPr>
        <p:txBody>
          <a:bodyPr wrap="square" rtlCol="0" anchor="ctr"/>
          <a:lstStyle/>
          <a:p>
            <a:pPr indent="0" marL="0">
              <a:lnSpc>
                <a:spcPct val="115000"/>
              </a:lnSpc>
              <a:buNone/>
            </a:pPr>
            <a:r>
              <a:rPr lang="en-US" sz="1100" dirty="0">
                <a:solidFill>
                  <a:srgbClr val="1A1A2E"/>
                </a:solidFill>
                <a:latin typeface="Calibri" pitchFamily="34" charset="0"/>
                <a:ea typeface="Calibri" pitchFamily="34" charset="-122"/>
                <a:cs typeface="Calibri" pitchFamily="34" charset="-120"/>
              </a:rPr>
              <a:t>10 categorical, incl. Lead_Star (764), Director (1,048), Music_Director (630)</a:t>
            </a:r>
            <a:endParaRPr lang="en-US" sz="1100" dirty="0"/>
          </a:p>
        </p:txBody>
      </p:sp>
      <p:sp>
        <p:nvSpPr>
          <p:cNvPr id="13" name="Shape 11"/>
          <p:cNvSpPr/>
          <p:nvPr/>
        </p:nvSpPr>
        <p:spPr>
          <a:xfrm>
            <a:off x="5806440" y="3703320"/>
            <a:ext cx="640080" cy="457200"/>
          </a:xfrm>
          <a:prstGeom prst="rightArrow">
            <a:avLst/>
          </a:prstGeom>
          <a:solidFill>
            <a:srgbClr val="D4AF37"/>
          </a:solidFill>
          <a:ln/>
        </p:spPr>
      </p:sp>
      <p:sp>
        <p:nvSpPr>
          <p:cNvPr id="14" name="Text 12"/>
          <p:cNvSpPr/>
          <p:nvPr/>
        </p:nvSpPr>
        <p:spPr>
          <a:xfrm>
            <a:off x="5577840" y="3063240"/>
            <a:ext cx="1097280" cy="594360"/>
          </a:xfrm>
          <a:prstGeom prst="rect">
            <a:avLst/>
          </a:prstGeom>
          <a:noFill/>
          <a:ln/>
        </p:spPr>
        <p:txBody>
          <a:bodyPr wrap="square" rtlCol="0" anchor="ctr"/>
          <a:lstStyle/>
          <a:p>
            <a:pPr algn="ctr" indent="0" marL="0">
              <a:buNone/>
            </a:pPr>
            <a:r>
              <a:rPr lang="en-US" sz="850" i="1" dirty="0">
                <a:solidFill>
                  <a:srgbClr val="6B6B7B"/>
                </a:solidFill>
                <a:latin typeface="Calibri" pitchFamily="34" charset="0"/>
                <a:ea typeface="Calibri" pitchFamily="34" charset="-122"/>
                <a:cs typeface="Calibri" pitchFamily="34" charset="-120"/>
              </a:rPr>
              <a:t>pd.get_dummies</a:t>
            </a:r>
            <a:endParaRPr lang="en-US" sz="850" dirty="0"/>
          </a:p>
          <a:p>
            <a:pPr algn="ctr" indent="0" marL="0">
              <a:buNone/>
            </a:pPr>
            <a:r>
              <a:rPr lang="en-US" sz="850" i="1" dirty="0">
                <a:solidFill>
                  <a:srgbClr val="6B6B7B"/>
                </a:solidFill>
                <a:latin typeface="Calibri" pitchFamily="34" charset="0"/>
                <a:ea typeface="Calibri" pitchFamily="34" charset="-122"/>
                <a:cs typeface="Calibri" pitchFamily="34" charset="-120"/>
              </a:rPr>
              <a:t>(drop_first = True)</a:t>
            </a:r>
            <a:endParaRPr lang="en-US" sz="850" dirty="0"/>
          </a:p>
        </p:txBody>
      </p:sp>
      <p:sp>
        <p:nvSpPr>
          <p:cNvPr id="15" name="Shape 13"/>
          <p:cNvSpPr/>
          <p:nvPr/>
        </p:nvSpPr>
        <p:spPr>
          <a:xfrm>
            <a:off x="6537960" y="2011680"/>
            <a:ext cx="5212080" cy="3931920"/>
          </a:xfrm>
          <a:prstGeom prst="roundRect">
            <a:avLst>
              <a:gd name="adj" fmla="val 1860"/>
            </a:avLst>
          </a:prstGeom>
          <a:solidFill>
            <a:srgbClr val="141420"/>
          </a:solidFill>
          <a:ln/>
        </p:spPr>
      </p:sp>
      <p:sp>
        <p:nvSpPr>
          <p:cNvPr id="16" name="Text 14"/>
          <p:cNvSpPr/>
          <p:nvPr/>
        </p:nvSpPr>
        <p:spPr>
          <a:xfrm>
            <a:off x="6858000" y="2240280"/>
            <a:ext cx="4572000" cy="274320"/>
          </a:xfrm>
          <a:prstGeom prst="rect">
            <a:avLst/>
          </a:prstGeom>
          <a:noFill/>
          <a:ln/>
        </p:spPr>
        <p:txBody>
          <a:bodyPr wrap="square" rtlCol="0" anchor="ctr"/>
          <a:lstStyle/>
          <a:p>
            <a:pPr indent="0" marL="0">
              <a:buNone/>
            </a:pPr>
            <a:r>
              <a:rPr lang="en-US" sz="1100" b="1" spc="150" kern="0" dirty="0">
                <a:solidFill>
                  <a:srgbClr val="C7C6D6"/>
                </a:solidFill>
                <a:latin typeface="Calibri" pitchFamily="34" charset="0"/>
                <a:ea typeface="Calibri" pitchFamily="34" charset="-122"/>
                <a:cs typeface="Calibri" pitchFamily="34" charset="-120"/>
              </a:rPr>
              <a:t>AFTER ENCODING</a:t>
            </a:r>
            <a:endParaRPr lang="en-US" sz="1100" dirty="0"/>
          </a:p>
        </p:txBody>
      </p:sp>
      <p:sp>
        <p:nvSpPr>
          <p:cNvPr id="17" name="Text 15"/>
          <p:cNvSpPr/>
          <p:nvPr/>
        </p:nvSpPr>
        <p:spPr>
          <a:xfrm>
            <a:off x="6858000" y="2514600"/>
            <a:ext cx="4572000" cy="822960"/>
          </a:xfrm>
          <a:prstGeom prst="rect">
            <a:avLst/>
          </a:prstGeom>
          <a:noFill/>
          <a:ln/>
        </p:spPr>
        <p:txBody>
          <a:bodyPr wrap="square" rtlCol="0" anchor="ctr"/>
          <a:lstStyle/>
          <a:p>
            <a:pPr indent="0" marL="0">
              <a:buNone/>
            </a:pPr>
            <a:r>
              <a:rPr lang="en-US" sz="4600" b="1" dirty="0">
                <a:solidFill>
                  <a:srgbClr val="D4AF37"/>
                </a:solidFill>
                <a:latin typeface="Cambria" pitchFamily="34" charset="0"/>
                <a:ea typeface="Cambria" pitchFamily="34" charset="-122"/>
                <a:cs typeface="Cambria" pitchFamily="34" charset="-120"/>
              </a:rPr>
              <a:t>2,460</a:t>
            </a:r>
            <a:endParaRPr lang="en-US" sz="4600" dirty="0"/>
          </a:p>
        </p:txBody>
      </p:sp>
      <p:sp>
        <p:nvSpPr>
          <p:cNvPr id="18" name="Text 16"/>
          <p:cNvSpPr/>
          <p:nvPr/>
        </p:nvSpPr>
        <p:spPr>
          <a:xfrm>
            <a:off x="6858000" y="3246120"/>
            <a:ext cx="4572000" cy="365760"/>
          </a:xfrm>
          <a:prstGeom prst="rect">
            <a:avLst/>
          </a:prstGeom>
          <a:noFill/>
          <a:ln/>
        </p:spPr>
        <p:txBody>
          <a:bodyPr wrap="square" rtlCol="0" anchor="ctr"/>
          <a:lstStyle/>
          <a:p>
            <a:pPr indent="0" marL="0">
              <a:buNone/>
            </a:pPr>
            <a:r>
              <a:rPr lang="en-US" sz="1150" dirty="0">
                <a:solidFill>
                  <a:srgbClr val="C7C6D6"/>
                </a:solidFill>
                <a:latin typeface="Calibri" pitchFamily="34" charset="0"/>
                <a:ea typeface="Calibri" pitchFamily="34" charset="-122"/>
                <a:cs typeface="Calibri" pitchFamily="34" charset="-120"/>
              </a:rPr>
              <a:t>binary + numeric features, all cast to float/int</a:t>
            </a:r>
            <a:endParaRPr lang="en-US" sz="1150" dirty="0"/>
          </a:p>
        </p:txBody>
      </p:sp>
      <p:sp>
        <p:nvSpPr>
          <p:cNvPr id="19" name="Shape 17"/>
          <p:cNvSpPr/>
          <p:nvPr/>
        </p:nvSpPr>
        <p:spPr>
          <a:xfrm>
            <a:off x="6858000" y="3849624"/>
            <a:ext cx="82296" cy="82296"/>
          </a:xfrm>
          <a:prstGeom prst="ellipse">
            <a:avLst/>
          </a:prstGeom>
          <a:solidFill>
            <a:srgbClr val="D4AF37"/>
          </a:solidFill>
          <a:ln/>
        </p:spPr>
      </p:sp>
      <p:sp>
        <p:nvSpPr>
          <p:cNvPr id="20" name="Text 18"/>
          <p:cNvSpPr/>
          <p:nvPr/>
        </p:nvSpPr>
        <p:spPr>
          <a:xfrm>
            <a:off x="7040880" y="3721608"/>
            <a:ext cx="4480560" cy="502920"/>
          </a:xfrm>
          <a:prstGeom prst="rect">
            <a:avLst/>
          </a:prstGeom>
          <a:noFill/>
          <a:ln/>
        </p:spPr>
        <p:txBody>
          <a:bodyPr wrap="square" rtlCol="0" anchor="ctr"/>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2 numeric columns kept as-is</a:t>
            </a:r>
            <a:endParaRPr lang="en-US" sz="1100" dirty="0"/>
          </a:p>
        </p:txBody>
      </p:sp>
      <p:sp>
        <p:nvSpPr>
          <p:cNvPr id="21" name="Shape 19"/>
          <p:cNvSpPr/>
          <p:nvPr/>
        </p:nvSpPr>
        <p:spPr>
          <a:xfrm>
            <a:off x="6858000" y="4507992"/>
            <a:ext cx="82296" cy="82296"/>
          </a:xfrm>
          <a:prstGeom prst="ellipse">
            <a:avLst/>
          </a:prstGeom>
          <a:solidFill>
            <a:srgbClr val="D4AF37"/>
          </a:solidFill>
          <a:ln/>
        </p:spPr>
      </p:sp>
      <p:sp>
        <p:nvSpPr>
          <p:cNvPr id="22" name="Text 20"/>
          <p:cNvSpPr/>
          <p:nvPr/>
        </p:nvSpPr>
        <p:spPr>
          <a:xfrm>
            <a:off x="7040880" y="4379976"/>
            <a:ext cx="4480560" cy="502920"/>
          </a:xfrm>
          <a:prstGeom prst="rect">
            <a:avLst/>
          </a:prstGeom>
          <a:noFill/>
          <a:ln/>
        </p:spPr>
        <p:txBody>
          <a:bodyPr wrap="square" rtlCol="0" anchor="ctr"/>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2,458 one-hot dummy columns from the 10 categoricals</a:t>
            </a:r>
            <a:endParaRPr lang="en-US" sz="1100" dirty="0"/>
          </a:p>
        </p:txBody>
      </p:sp>
      <p:sp>
        <p:nvSpPr>
          <p:cNvPr id="23" name="Shape 21"/>
          <p:cNvSpPr/>
          <p:nvPr/>
        </p:nvSpPr>
        <p:spPr>
          <a:xfrm>
            <a:off x="6858000" y="5166360"/>
            <a:ext cx="82296" cy="82296"/>
          </a:xfrm>
          <a:prstGeom prst="ellipse">
            <a:avLst/>
          </a:prstGeom>
          <a:solidFill>
            <a:srgbClr val="D4AF37"/>
          </a:solidFill>
          <a:ln/>
        </p:spPr>
      </p:sp>
      <p:sp>
        <p:nvSpPr>
          <p:cNvPr id="24" name="Text 22"/>
          <p:cNvSpPr/>
          <p:nvPr/>
        </p:nvSpPr>
        <p:spPr>
          <a:xfrm>
            <a:off x="7040880" y="5038344"/>
            <a:ext cx="4480560" cy="502920"/>
          </a:xfrm>
          <a:prstGeom prst="rect">
            <a:avLst/>
          </a:prstGeom>
          <a:noFill/>
          <a:ln/>
        </p:spPr>
        <p:txBody>
          <a:bodyPr wrap="square" rtlCol="0" anchor="ctr"/>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final_dataset.csv: 1,696 rows × 2,461 columns (incl. target)</a:t>
            </a:r>
            <a:endParaRPr lang="en-US" sz="1100" dirty="0"/>
          </a:p>
        </p:txBody>
      </p:sp>
      <p:sp>
        <p:nvSpPr>
          <p:cNvPr id="25" name="Text 23"/>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06 · TRAIN / TEST SPLIT</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An 80 / 20 Holdout Split</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scikit-learn train_test_split, random_state = 42</a:t>
            </a:r>
            <a:endParaRPr lang="en-US" sz="1350" dirty="0"/>
          </a:p>
        </p:txBody>
      </p:sp>
      <p:graphicFrame>
        <p:nvGraphicFramePr>
          <p:cNvPr id="5" name="Chart 0" descr=""/>
          <p:cNvGraphicFramePr/>
          <p:nvPr/>
        </p:nvGraphicFramePr>
        <p:xfrm>
          <a:off x="548640" y="1965960"/>
          <a:ext cx="45720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577840" y="2011680"/>
            <a:ext cx="612648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Feature matrix shapes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577840" y="2423160"/>
          <a:ext cx="6126480" cy="1600200"/>
        </p:xfrm>
        <a:graphic>
          <a:graphicData uri="http://schemas.openxmlformats.org/drawingml/2006/table">
            <a:tbl>
              <a:tblPr/>
              <a:tblGrid>
                <a:gridCol w="1531620"/>
                <a:gridCol w="1531620"/>
                <a:gridCol w="1531620"/>
                <a:gridCol w="1531620"/>
              </a:tblGrid>
              <a:tr h="402336">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Set</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X shape</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y shape</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Share</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r>
              <a:tr h="402336">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Full dataset</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(1,696, 2,460)</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(1,696,)</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X_train / y_train</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(1,356, 2,460)</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(1,356,)</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79.95%</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X_test / y_test</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(340, 2,460)</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(340,)</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20.05%</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bl>
          </a:graphicData>
        </a:graphic>
      </p:graphicFrame>
      <p:sp>
        <p:nvSpPr>
          <p:cNvPr id="8" name="Text 4"/>
          <p:cNvSpPr/>
          <p:nvPr/>
        </p:nvSpPr>
        <p:spPr>
          <a:xfrm>
            <a:off x="5577840" y="4251960"/>
            <a:ext cx="612648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Target statistics stay consistent across splits</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577840" y="4617720"/>
          <a:ext cx="6126480" cy="1188720"/>
        </p:xfrm>
        <a:graphic>
          <a:graphicData uri="http://schemas.openxmlformats.org/drawingml/2006/table">
            <a:tbl>
              <a:tblPr/>
              <a:tblGrid>
                <a:gridCol w="1531620"/>
                <a:gridCol w="1531620"/>
                <a:gridCol w="1531620"/>
                <a:gridCol w="1531620"/>
              </a:tblGrid>
              <a:tr h="402336">
                <a:tc>
                  <a:txBody>
                    <a:bodyPr/>
                    <a:lstStyle/>
                    <a:p>
                      <a:pPr algn="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Mean</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Median</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Max</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r>
              <a:tr h="402336">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Train Revenue</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₹15.06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₹5.5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₹210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402336">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Test Revenue</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₹14.81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₹4.63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₹180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bl>
          </a:graphicData>
        </a:graphic>
      </p:graphicFrame>
      <p:sp>
        <p:nvSpPr>
          <p:cNvPr id="10" name="Text 5"/>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11" name="Text 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420"/>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STAGE 07 · MODEL BUILDING</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Elastic Net Regression Pipeline</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C7C6D6"/>
                </a:solidFill>
                <a:latin typeface="Calibri" pitchFamily="34" charset="0"/>
                <a:ea typeface="Calibri" pitchFamily="34" charset="-122"/>
                <a:cs typeface="Calibri" pitchFamily="34" charset="-120"/>
              </a:rPr>
              <a:t>Combines L1 (Lasso) and L2 (Ridge) penalties for a high-dimensional, correlated feature space</a:t>
            </a:r>
            <a:endParaRPr lang="en-US" sz="1350" dirty="0"/>
          </a:p>
        </p:txBody>
      </p:sp>
      <p:sp>
        <p:nvSpPr>
          <p:cNvPr id="5" name="Shape 3"/>
          <p:cNvSpPr/>
          <p:nvPr/>
        </p:nvSpPr>
        <p:spPr>
          <a:xfrm>
            <a:off x="548640" y="2331720"/>
            <a:ext cx="2514600" cy="2148840"/>
          </a:xfrm>
          <a:prstGeom prst="roundRect">
            <a:avLst>
              <a:gd name="adj" fmla="val 3404"/>
            </a:avLst>
          </a:prstGeom>
          <a:solidFill>
            <a:srgbClr val="1E1E2E"/>
          </a:solidFill>
          <a:ln w="12700">
            <a:solidFill>
              <a:srgbClr val="33334A"/>
            </a:solidFill>
            <a:prstDash val="solid"/>
          </a:ln>
        </p:spPr>
      </p:sp>
      <p:sp>
        <p:nvSpPr>
          <p:cNvPr id="6" name="Text 4"/>
          <p:cNvSpPr/>
          <p:nvPr/>
        </p:nvSpPr>
        <p:spPr>
          <a:xfrm>
            <a:off x="713232" y="2478024"/>
            <a:ext cx="2185416" cy="274320"/>
          </a:xfrm>
          <a:prstGeom prst="rect">
            <a:avLst/>
          </a:prstGeom>
          <a:noFill/>
          <a:ln/>
        </p:spPr>
        <p:txBody>
          <a:bodyPr wrap="square" rtlCol="0" anchor="ctr"/>
          <a:lstStyle/>
          <a:p>
            <a:pPr indent="0" marL="0">
              <a:buNone/>
            </a:pPr>
            <a:r>
              <a:rPr lang="en-US" sz="1000" b="1" spc="150" kern="0" dirty="0">
                <a:solidFill>
                  <a:srgbClr val="D4AF37"/>
                </a:solidFill>
                <a:latin typeface="Calibri" pitchFamily="34" charset="0"/>
                <a:ea typeface="Calibri" pitchFamily="34" charset="-122"/>
                <a:cs typeface="Calibri" pitchFamily="34" charset="-120"/>
              </a:rPr>
              <a:t>INPUT</a:t>
            </a:r>
            <a:endParaRPr lang="en-US" sz="1000" dirty="0"/>
          </a:p>
        </p:txBody>
      </p:sp>
      <p:sp>
        <p:nvSpPr>
          <p:cNvPr id="7" name="Text 5"/>
          <p:cNvSpPr/>
          <p:nvPr/>
        </p:nvSpPr>
        <p:spPr>
          <a:xfrm>
            <a:off x="713232" y="2770632"/>
            <a:ext cx="2185416" cy="50292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X_train</a:t>
            </a:r>
            <a:endParaRPr lang="en-US" sz="1500" dirty="0"/>
          </a:p>
        </p:txBody>
      </p:sp>
      <p:sp>
        <p:nvSpPr>
          <p:cNvPr id="8" name="Text 6"/>
          <p:cNvSpPr/>
          <p:nvPr/>
        </p:nvSpPr>
        <p:spPr>
          <a:xfrm>
            <a:off x="713232" y="3337560"/>
            <a:ext cx="2185416" cy="1005840"/>
          </a:xfrm>
          <a:prstGeom prst="rect">
            <a:avLst/>
          </a:prstGeom>
          <a:noFill/>
          <a:ln/>
        </p:spPr>
        <p:txBody>
          <a:bodyPr wrap="square" rtlCol="0" anchor="ctr"/>
          <a:lstStyle/>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1,356 × 2,460</a:t>
            </a:r>
            <a:endParaRPr lang="en-US" sz="1050" dirty="0"/>
          </a:p>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feature matrix</a:t>
            </a:r>
            <a:endParaRPr lang="en-US" sz="1050" dirty="0"/>
          </a:p>
        </p:txBody>
      </p:sp>
      <p:sp>
        <p:nvSpPr>
          <p:cNvPr id="9" name="Shape 7"/>
          <p:cNvSpPr/>
          <p:nvPr/>
        </p:nvSpPr>
        <p:spPr>
          <a:xfrm>
            <a:off x="3118104" y="3278124"/>
            <a:ext cx="347472" cy="256032"/>
          </a:xfrm>
          <a:prstGeom prst="rightArrow">
            <a:avLst/>
          </a:prstGeom>
          <a:solidFill>
            <a:srgbClr val="D4AF37"/>
          </a:solidFill>
          <a:ln/>
        </p:spPr>
      </p:sp>
      <p:sp>
        <p:nvSpPr>
          <p:cNvPr id="10" name="Shape 8"/>
          <p:cNvSpPr/>
          <p:nvPr/>
        </p:nvSpPr>
        <p:spPr>
          <a:xfrm>
            <a:off x="3520440" y="2331720"/>
            <a:ext cx="2514600" cy="2148840"/>
          </a:xfrm>
          <a:prstGeom prst="roundRect">
            <a:avLst>
              <a:gd name="adj" fmla="val 3404"/>
            </a:avLst>
          </a:prstGeom>
          <a:solidFill>
            <a:srgbClr val="1E1E2E"/>
          </a:solidFill>
          <a:ln w="12700">
            <a:solidFill>
              <a:srgbClr val="33334A"/>
            </a:solidFill>
            <a:prstDash val="solid"/>
          </a:ln>
        </p:spPr>
      </p:sp>
      <p:sp>
        <p:nvSpPr>
          <p:cNvPr id="11" name="Text 9"/>
          <p:cNvSpPr/>
          <p:nvPr/>
        </p:nvSpPr>
        <p:spPr>
          <a:xfrm>
            <a:off x="3685032" y="2478024"/>
            <a:ext cx="2185416" cy="274320"/>
          </a:xfrm>
          <a:prstGeom prst="rect">
            <a:avLst/>
          </a:prstGeom>
          <a:noFill/>
          <a:ln/>
        </p:spPr>
        <p:txBody>
          <a:bodyPr wrap="square" rtlCol="0" anchor="ctr"/>
          <a:lstStyle/>
          <a:p>
            <a:pPr indent="0" marL="0">
              <a:buNone/>
            </a:pPr>
            <a:r>
              <a:rPr lang="en-US" sz="1000" b="1" spc="150" kern="0" dirty="0">
                <a:solidFill>
                  <a:srgbClr val="D4AF37"/>
                </a:solidFill>
                <a:latin typeface="Calibri" pitchFamily="34" charset="0"/>
                <a:ea typeface="Calibri" pitchFamily="34" charset="-122"/>
                <a:cs typeface="Calibri" pitchFamily="34" charset="-120"/>
              </a:rPr>
              <a:t>STEP 1</a:t>
            </a:r>
            <a:endParaRPr lang="en-US" sz="1000" dirty="0"/>
          </a:p>
        </p:txBody>
      </p:sp>
      <p:sp>
        <p:nvSpPr>
          <p:cNvPr id="12" name="Text 10"/>
          <p:cNvSpPr/>
          <p:nvPr/>
        </p:nvSpPr>
        <p:spPr>
          <a:xfrm>
            <a:off x="3685032" y="2770632"/>
            <a:ext cx="2185416" cy="50292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StandardScaler()</a:t>
            </a:r>
            <a:endParaRPr lang="en-US" sz="1500" dirty="0"/>
          </a:p>
        </p:txBody>
      </p:sp>
      <p:sp>
        <p:nvSpPr>
          <p:cNvPr id="13" name="Text 11"/>
          <p:cNvSpPr/>
          <p:nvPr/>
        </p:nvSpPr>
        <p:spPr>
          <a:xfrm>
            <a:off x="3685032" y="3337560"/>
            <a:ext cx="2185416" cy="1005840"/>
          </a:xfrm>
          <a:prstGeom prst="rect">
            <a:avLst/>
          </a:prstGeom>
          <a:noFill/>
          <a:ln/>
        </p:spPr>
        <p:txBody>
          <a:bodyPr wrap="square" rtlCol="0" anchor="ctr"/>
          <a:lstStyle/>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Zero-mean, unit-variance</a:t>
            </a:r>
            <a:endParaRPr lang="en-US" sz="1050" dirty="0"/>
          </a:p>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scaling of all 2,460 features</a:t>
            </a:r>
            <a:endParaRPr lang="en-US" sz="1050" dirty="0"/>
          </a:p>
        </p:txBody>
      </p:sp>
      <p:sp>
        <p:nvSpPr>
          <p:cNvPr id="14" name="Shape 12"/>
          <p:cNvSpPr/>
          <p:nvPr/>
        </p:nvSpPr>
        <p:spPr>
          <a:xfrm>
            <a:off x="6089904" y="3278124"/>
            <a:ext cx="347472" cy="256032"/>
          </a:xfrm>
          <a:prstGeom prst="rightArrow">
            <a:avLst/>
          </a:prstGeom>
          <a:solidFill>
            <a:srgbClr val="D4AF37"/>
          </a:solidFill>
          <a:ln/>
        </p:spPr>
      </p:sp>
      <p:sp>
        <p:nvSpPr>
          <p:cNvPr id="15" name="Shape 13"/>
          <p:cNvSpPr/>
          <p:nvPr/>
        </p:nvSpPr>
        <p:spPr>
          <a:xfrm>
            <a:off x="6492240" y="2331720"/>
            <a:ext cx="2514600" cy="2148840"/>
          </a:xfrm>
          <a:prstGeom prst="roundRect">
            <a:avLst>
              <a:gd name="adj" fmla="val 3404"/>
            </a:avLst>
          </a:prstGeom>
          <a:solidFill>
            <a:srgbClr val="8B1E3F"/>
          </a:solidFill>
          <a:ln w="12700">
            <a:solidFill>
              <a:srgbClr val="33334A"/>
            </a:solidFill>
            <a:prstDash val="solid"/>
          </a:ln>
        </p:spPr>
      </p:sp>
      <p:sp>
        <p:nvSpPr>
          <p:cNvPr id="16" name="Text 14"/>
          <p:cNvSpPr/>
          <p:nvPr/>
        </p:nvSpPr>
        <p:spPr>
          <a:xfrm>
            <a:off x="6656832" y="2478024"/>
            <a:ext cx="2185416" cy="274320"/>
          </a:xfrm>
          <a:prstGeom prst="rect">
            <a:avLst/>
          </a:prstGeom>
          <a:noFill/>
          <a:ln/>
        </p:spPr>
        <p:txBody>
          <a:bodyPr wrap="square" rtlCol="0" anchor="ctr"/>
          <a:lstStyle/>
          <a:p>
            <a:pPr indent="0" marL="0">
              <a:buNone/>
            </a:pPr>
            <a:r>
              <a:rPr lang="en-US" sz="1000" b="1" spc="150" kern="0" dirty="0">
                <a:solidFill>
                  <a:srgbClr val="D4AF37"/>
                </a:solidFill>
                <a:latin typeface="Calibri" pitchFamily="34" charset="0"/>
                <a:ea typeface="Calibri" pitchFamily="34" charset="-122"/>
                <a:cs typeface="Calibri" pitchFamily="34" charset="-120"/>
              </a:rPr>
              <a:t>STEP 2</a:t>
            </a:r>
            <a:endParaRPr lang="en-US" sz="1000" dirty="0"/>
          </a:p>
        </p:txBody>
      </p:sp>
      <p:sp>
        <p:nvSpPr>
          <p:cNvPr id="17" name="Text 15"/>
          <p:cNvSpPr/>
          <p:nvPr/>
        </p:nvSpPr>
        <p:spPr>
          <a:xfrm>
            <a:off x="6656832" y="2770632"/>
            <a:ext cx="2185416" cy="50292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ElasticNet()</a:t>
            </a:r>
            <a:endParaRPr lang="en-US" sz="1500" dirty="0"/>
          </a:p>
        </p:txBody>
      </p:sp>
      <p:sp>
        <p:nvSpPr>
          <p:cNvPr id="18" name="Text 16"/>
          <p:cNvSpPr/>
          <p:nvPr/>
        </p:nvSpPr>
        <p:spPr>
          <a:xfrm>
            <a:off x="6656832" y="3337560"/>
            <a:ext cx="2185416" cy="1005840"/>
          </a:xfrm>
          <a:prstGeom prst="rect">
            <a:avLst/>
          </a:prstGeom>
          <a:noFill/>
          <a:ln/>
        </p:spPr>
        <p:txBody>
          <a:bodyPr wrap="square" rtlCol="0" anchor="ctr"/>
          <a:lstStyle/>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alpha = 0.1</a:t>
            </a:r>
            <a:endParaRPr lang="en-US" sz="1050" dirty="0"/>
          </a:p>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l1_ratio = 0.5</a:t>
            </a:r>
            <a:endParaRPr lang="en-US" sz="1050" dirty="0"/>
          </a:p>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max_iter = 10,000</a:t>
            </a:r>
            <a:endParaRPr lang="en-US" sz="1050" dirty="0"/>
          </a:p>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random_state = 42</a:t>
            </a:r>
            <a:endParaRPr lang="en-US" sz="1050" dirty="0"/>
          </a:p>
        </p:txBody>
      </p:sp>
      <p:sp>
        <p:nvSpPr>
          <p:cNvPr id="19" name="Shape 17"/>
          <p:cNvSpPr/>
          <p:nvPr/>
        </p:nvSpPr>
        <p:spPr>
          <a:xfrm>
            <a:off x="9061704" y="3278124"/>
            <a:ext cx="347472" cy="256032"/>
          </a:xfrm>
          <a:prstGeom prst="rightArrow">
            <a:avLst/>
          </a:prstGeom>
          <a:solidFill>
            <a:srgbClr val="D4AF37"/>
          </a:solidFill>
          <a:ln/>
        </p:spPr>
      </p:sp>
      <p:sp>
        <p:nvSpPr>
          <p:cNvPr id="20" name="Shape 18"/>
          <p:cNvSpPr/>
          <p:nvPr/>
        </p:nvSpPr>
        <p:spPr>
          <a:xfrm>
            <a:off x="9464040" y="2331720"/>
            <a:ext cx="2514600" cy="2148840"/>
          </a:xfrm>
          <a:prstGeom prst="roundRect">
            <a:avLst>
              <a:gd name="adj" fmla="val 3404"/>
            </a:avLst>
          </a:prstGeom>
          <a:solidFill>
            <a:srgbClr val="1E1E2E"/>
          </a:solidFill>
          <a:ln w="12700">
            <a:solidFill>
              <a:srgbClr val="33334A"/>
            </a:solidFill>
            <a:prstDash val="solid"/>
          </a:ln>
        </p:spPr>
      </p:sp>
      <p:sp>
        <p:nvSpPr>
          <p:cNvPr id="21" name="Text 19"/>
          <p:cNvSpPr/>
          <p:nvPr/>
        </p:nvSpPr>
        <p:spPr>
          <a:xfrm>
            <a:off x="9628632" y="2478024"/>
            <a:ext cx="2185416" cy="274320"/>
          </a:xfrm>
          <a:prstGeom prst="rect">
            <a:avLst/>
          </a:prstGeom>
          <a:noFill/>
          <a:ln/>
        </p:spPr>
        <p:txBody>
          <a:bodyPr wrap="square" rtlCol="0" anchor="ctr"/>
          <a:lstStyle/>
          <a:p>
            <a:pPr indent="0" marL="0">
              <a:buNone/>
            </a:pPr>
            <a:r>
              <a:rPr lang="en-US" sz="1000" b="1" spc="150" kern="0" dirty="0">
                <a:solidFill>
                  <a:srgbClr val="D4AF37"/>
                </a:solidFill>
                <a:latin typeface="Calibri" pitchFamily="34" charset="0"/>
                <a:ea typeface="Calibri" pitchFamily="34" charset="-122"/>
                <a:cs typeface="Calibri" pitchFamily="34" charset="-120"/>
              </a:rPr>
              <a:t>OUTPUT</a:t>
            </a:r>
            <a:endParaRPr lang="en-US" sz="1000" dirty="0"/>
          </a:p>
        </p:txBody>
      </p:sp>
      <p:sp>
        <p:nvSpPr>
          <p:cNvPr id="22" name="Text 20"/>
          <p:cNvSpPr/>
          <p:nvPr/>
        </p:nvSpPr>
        <p:spPr>
          <a:xfrm>
            <a:off x="9628632" y="2770632"/>
            <a:ext cx="2185416" cy="50292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Fitted Pipeline</a:t>
            </a:r>
            <a:endParaRPr lang="en-US" sz="1500" dirty="0"/>
          </a:p>
        </p:txBody>
      </p:sp>
      <p:sp>
        <p:nvSpPr>
          <p:cNvPr id="23" name="Text 21"/>
          <p:cNvSpPr/>
          <p:nvPr/>
        </p:nvSpPr>
        <p:spPr>
          <a:xfrm>
            <a:off x="9628632" y="3337560"/>
            <a:ext cx="2185416" cy="1005840"/>
          </a:xfrm>
          <a:prstGeom prst="rect">
            <a:avLst/>
          </a:prstGeom>
          <a:noFill/>
          <a:ln/>
        </p:spPr>
        <p:txBody>
          <a:bodyPr wrap="square" rtlCol="0" anchor="ctr"/>
          <a:lstStyle/>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Predicts Revenue(INR)</a:t>
            </a:r>
            <a:endParaRPr lang="en-US" sz="1050" dirty="0"/>
          </a:p>
          <a:p>
            <a:pPr indent="0" marL="0">
              <a:lnSpc>
                <a:spcPct val="125000"/>
              </a:lnSpc>
              <a:buNone/>
            </a:pPr>
            <a:r>
              <a:rPr lang="en-US" sz="1050" dirty="0">
                <a:solidFill>
                  <a:srgbClr val="C7C6D6"/>
                </a:solidFill>
                <a:latin typeface="Calibri" pitchFamily="34" charset="0"/>
                <a:ea typeface="Calibri" pitchFamily="34" charset="-122"/>
                <a:cs typeface="Calibri" pitchFamily="34" charset="-120"/>
              </a:rPr>
              <a:t>from any new film profile</a:t>
            </a:r>
            <a:endParaRPr lang="en-US" sz="1050" dirty="0"/>
          </a:p>
        </p:txBody>
      </p:sp>
      <p:sp>
        <p:nvSpPr>
          <p:cNvPr id="24" name="Text 22"/>
          <p:cNvSpPr/>
          <p:nvPr/>
        </p:nvSpPr>
        <p:spPr>
          <a:xfrm>
            <a:off x="548640" y="4892040"/>
            <a:ext cx="11064240" cy="1005840"/>
          </a:xfrm>
          <a:prstGeom prst="rect">
            <a:avLst/>
          </a:prstGeom>
          <a:noFill/>
          <a:ln/>
        </p:spPr>
        <p:txBody>
          <a:bodyPr wrap="square" rtlCol="0" anchor="ctr"/>
          <a:lstStyle/>
          <a:p>
            <a:pPr indent="0" marL="0">
              <a:lnSpc>
                <a:spcPct val="130000"/>
              </a:lnSpc>
              <a:buNone/>
            </a:pPr>
            <a:r>
              <a:rPr lang="en-US" sz="1250" b="1" dirty="0">
                <a:solidFill>
                  <a:srgbClr val="D4AF37"/>
                </a:solidFill>
                <a:latin typeface="Calibri" pitchFamily="34" charset="0"/>
                <a:ea typeface="Calibri" pitchFamily="34" charset="-122"/>
                <a:cs typeface="Calibri" pitchFamily="34" charset="-120"/>
              </a:rPr>
              <a:t>Why Elastic Net?  </a:t>
            </a:r>
            <a:pPr indent="0" marL="0">
              <a:lnSpc>
                <a:spcPct val="130000"/>
              </a:lnSpc>
              <a:buNone/>
            </a:pPr>
            <a:r>
              <a:rPr lang="en-US" sz="1250" dirty="0">
                <a:solidFill>
                  <a:srgbClr val="C7C6D6"/>
                </a:solidFill>
                <a:latin typeface="Calibri" pitchFamily="34" charset="0"/>
                <a:ea typeface="Calibri" pitchFamily="34" charset="-122"/>
                <a:cs typeface="Calibri" pitchFamily="34" charset="-120"/>
              </a:rPr>
              <a:t>With 2,460 features (many one-hot columns highly correlated with each other) and only 1,356 training rows, plain linear regression would overfit badly. Elastic Net's combined penalty shrinks weak coefficients toward zero and performs automatic feature selection.</a:t>
            </a:r>
            <a:endParaRPr lang="en-US" sz="1250" dirty="0"/>
          </a:p>
        </p:txBody>
      </p:sp>
      <p:sp>
        <p:nvSpPr>
          <p:cNvPr id="25" name="Text 23"/>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8A8A9A"/>
                </a:solidFill>
                <a:latin typeface="Calibri" pitchFamily="34" charset="0"/>
                <a:ea typeface="Calibri" pitchFamily="34" charset="-122"/>
                <a:cs typeface="Calibri" pitchFamily="34" charset="-120"/>
              </a:rPr>
              <a:t>BOX OFFICE REVENUE PREDICTION</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8A8A9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07 · MODEL BUILDING</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What the Model Learned</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Top 10 features by absolute coefficient magnitude (standardized inputs)</a:t>
            </a:r>
            <a:endParaRPr lang="en-US" sz="1350" dirty="0"/>
          </a:p>
        </p:txBody>
      </p:sp>
      <p:graphicFrame>
        <p:nvGraphicFramePr>
          <p:cNvPr id="5" name="Chart 0" descr=""/>
          <p:cNvGraphicFramePr/>
          <p:nvPr/>
        </p:nvGraphicFramePr>
        <p:xfrm>
          <a:off x="365760" y="2011680"/>
          <a:ext cx="740664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001000" y="2011680"/>
            <a:ext cx="374904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Reading the coefficients</a:t>
            </a:r>
            <a:endParaRPr lang="en-US" sz="1300" dirty="0"/>
          </a:p>
        </p:txBody>
      </p:sp>
      <p:sp>
        <p:nvSpPr>
          <p:cNvPr id="7" name="Shape 4"/>
          <p:cNvSpPr/>
          <p:nvPr/>
        </p:nvSpPr>
        <p:spPr>
          <a:xfrm>
            <a:off x="8001000" y="2478024"/>
            <a:ext cx="91440" cy="91440"/>
          </a:xfrm>
          <a:prstGeom prst="ellipse">
            <a:avLst/>
          </a:prstGeom>
          <a:solidFill>
            <a:srgbClr val="D4AF37"/>
          </a:solidFill>
          <a:ln/>
        </p:spPr>
      </p:sp>
      <p:sp>
        <p:nvSpPr>
          <p:cNvPr id="8" name="Text 5"/>
          <p:cNvSpPr/>
          <p:nvPr/>
        </p:nvSpPr>
        <p:spPr>
          <a:xfrm>
            <a:off x="8211312" y="2331720"/>
            <a:ext cx="3566160" cy="960120"/>
          </a:xfrm>
          <a:prstGeom prst="rect">
            <a:avLst/>
          </a:prstGeom>
          <a:noFill/>
          <a:ln/>
        </p:spPr>
        <p:txBody>
          <a:bodyPr wrap="square"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Scale still wins: Screens and Budget remain the two largest single drivers by a wide margin.</a:t>
            </a:r>
            <a:endParaRPr lang="en-US" sz="1050" dirty="0"/>
          </a:p>
        </p:txBody>
      </p:sp>
      <p:sp>
        <p:nvSpPr>
          <p:cNvPr id="9" name="Shape 6"/>
          <p:cNvSpPr/>
          <p:nvPr/>
        </p:nvSpPr>
        <p:spPr>
          <a:xfrm>
            <a:off x="8001000" y="3648456"/>
            <a:ext cx="91440" cy="91440"/>
          </a:xfrm>
          <a:prstGeom prst="ellipse">
            <a:avLst/>
          </a:prstGeom>
          <a:solidFill>
            <a:srgbClr val="D4AF37"/>
          </a:solidFill>
          <a:ln/>
        </p:spPr>
      </p:sp>
      <p:sp>
        <p:nvSpPr>
          <p:cNvPr id="10" name="Text 7"/>
          <p:cNvSpPr/>
          <p:nvPr/>
        </p:nvSpPr>
        <p:spPr>
          <a:xfrm>
            <a:off x="8211312" y="3502152"/>
            <a:ext cx="3566160" cy="960120"/>
          </a:xfrm>
          <a:prstGeom prst="rect">
            <a:avLst/>
          </a:prstGeom>
          <a:noFill/>
          <a:ln/>
        </p:spPr>
        <p:txBody>
          <a:bodyPr wrap="square"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Star power matters independently: A-list leads (SRK, Prabhas, Salman, Hrithik, Aamir) each add tens of millions in predicted revenue.</a:t>
            </a:r>
            <a:endParaRPr lang="en-US" sz="1050" dirty="0"/>
          </a:p>
        </p:txBody>
      </p:sp>
      <p:sp>
        <p:nvSpPr>
          <p:cNvPr id="11" name="Shape 8"/>
          <p:cNvSpPr/>
          <p:nvPr/>
        </p:nvSpPr>
        <p:spPr>
          <a:xfrm>
            <a:off x="8001000" y="4818888"/>
            <a:ext cx="91440" cy="91440"/>
          </a:xfrm>
          <a:prstGeom prst="ellipse">
            <a:avLst/>
          </a:prstGeom>
          <a:solidFill>
            <a:srgbClr val="D4AF37"/>
          </a:solidFill>
          <a:ln/>
        </p:spPr>
      </p:sp>
      <p:sp>
        <p:nvSpPr>
          <p:cNvPr id="12" name="Text 9"/>
          <p:cNvSpPr/>
          <p:nvPr/>
        </p:nvSpPr>
        <p:spPr>
          <a:xfrm>
            <a:off x="8211312" y="4672584"/>
            <a:ext cx="3566160" cy="960120"/>
          </a:xfrm>
          <a:prstGeom prst="rect">
            <a:avLst/>
          </a:prstGeom>
          <a:noFill/>
          <a:ln/>
        </p:spPr>
        <p:txBody>
          <a:bodyPr wrap="square"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356 of 2,460 coefficients were shrunk exactly to zero — Elastic Net's L1 term performing automatic feature selection.</a:t>
            </a:r>
            <a:endParaRPr lang="en-US" sz="1050" dirty="0"/>
          </a:p>
        </p:txBody>
      </p:sp>
      <p:sp>
        <p:nvSpPr>
          <p:cNvPr id="13" name="Text 10"/>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08 · MODEL EVALUATION</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Holdout Test-Set Performance</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340 unseen films, model.predict(X_test)</a:t>
            </a:r>
            <a:endParaRPr lang="en-US" sz="1350" dirty="0"/>
          </a:p>
        </p:txBody>
      </p:sp>
      <p:sp>
        <p:nvSpPr>
          <p:cNvPr id="5" name="Shape 3"/>
          <p:cNvSpPr/>
          <p:nvPr/>
        </p:nvSpPr>
        <p:spPr>
          <a:xfrm>
            <a:off x="457200" y="2057400"/>
            <a:ext cx="2697480" cy="1737360"/>
          </a:xfrm>
          <a:prstGeom prst="roundRect">
            <a:avLst>
              <a:gd name="adj" fmla="val 4211"/>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566928" y="2185416"/>
            <a:ext cx="2478024" cy="1170432"/>
          </a:xfrm>
          <a:prstGeom prst="rect">
            <a:avLst/>
          </a:prstGeom>
          <a:noFill/>
          <a:ln/>
        </p:spPr>
        <p:txBody>
          <a:bodyPr wrap="square" rtlCol="0" anchor="b"/>
          <a:lstStyle/>
          <a:p>
            <a:pPr algn="l" indent="0" marL="0">
              <a:buNone/>
            </a:pPr>
            <a:r>
              <a:rPr lang="en-US" sz="2200" b="1" dirty="0">
                <a:solidFill>
                  <a:srgbClr val="8B1E3F"/>
                </a:solidFill>
                <a:latin typeface="Cambria" pitchFamily="34" charset="0"/>
                <a:ea typeface="Cambria" pitchFamily="34" charset="-122"/>
                <a:cs typeface="Cambria" pitchFamily="34" charset="-120"/>
              </a:rPr>
              <a:t>R² = 0.794</a:t>
            </a:r>
            <a:endParaRPr lang="en-US" sz="2200" dirty="0"/>
          </a:p>
        </p:txBody>
      </p:sp>
      <p:sp>
        <p:nvSpPr>
          <p:cNvPr id="7" name="Text 5"/>
          <p:cNvSpPr/>
          <p:nvPr/>
        </p:nvSpPr>
        <p:spPr>
          <a:xfrm>
            <a:off x="566928" y="3355848"/>
            <a:ext cx="247802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of revenue variance explained on unseen data</a:t>
            </a:r>
            <a:endParaRPr lang="en-US" sz="1050" dirty="0"/>
          </a:p>
        </p:txBody>
      </p:sp>
      <p:sp>
        <p:nvSpPr>
          <p:cNvPr id="8" name="Shape 6"/>
          <p:cNvSpPr/>
          <p:nvPr/>
        </p:nvSpPr>
        <p:spPr>
          <a:xfrm>
            <a:off x="3355848" y="2057400"/>
            <a:ext cx="2697480" cy="1737360"/>
          </a:xfrm>
          <a:prstGeom prst="roundRect">
            <a:avLst>
              <a:gd name="adj" fmla="val 4211"/>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3465576" y="2185416"/>
            <a:ext cx="2478024" cy="1170432"/>
          </a:xfrm>
          <a:prstGeom prst="rect">
            <a:avLst/>
          </a:prstGeom>
          <a:noFill/>
          <a:ln/>
        </p:spPr>
        <p:txBody>
          <a:bodyPr wrap="square" rtlCol="0" anchor="b"/>
          <a:lstStyle/>
          <a:p>
            <a:pPr algn="l" indent="0" marL="0">
              <a:buNone/>
            </a:pPr>
            <a:r>
              <a:rPr lang="en-US" sz="2200" b="1" dirty="0">
                <a:solidFill>
                  <a:srgbClr val="8B1E3F"/>
                </a:solidFill>
                <a:latin typeface="Cambria" pitchFamily="34" charset="0"/>
                <a:ea typeface="Cambria" pitchFamily="34" charset="-122"/>
                <a:cs typeface="Cambria" pitchFamily="34" charset="-120"/>
              </a:rPr>
              <a:t>MAE = ₹6.70 Cr</a:t>
            </a:r>
            <a:endParaRPr lang="en-US" sz="2200" dirty="0"/>
          </a:p>
        </p:txBody>
      </p:sp>
      <p:sp>
        <p:nvSpPr>
          <p:cNvPr id="10" name="Text 8"/>
          <p:cNvSpPr/>
          <p:nvPr/>
        </p:nvSpPr>
        <p:spPr>
          <a:xfrm>
            <a:off x="3465576" y="3355848"/>
            <a:ext cx="247802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mean absolute error — typical miss per film</a:t>
            </a:r>
            <a:endParaRPr lang="en-US" sz="1050" dirty="0"/>
          </a:p>
        </p:txBody>
      </p:sp>
      <p:sp>
        <p:nvSpPr>
          <p:cNvPr id="11" name="Shape 9"/>
          <p:cNvSpPr/>
          <p:nvPr/>
        </p:nvSpPr>
        <p:spPr>
          <a:xfrm>
            <a:off x="6254496" y="2057400"/>
            <a:ext cx="2697480" cy="1737360"/>
          </a:xfrm>
          <a:prstGeom prst="roundRect">
            <a:avLst>
              <a:gd name="adj" fmla="val 4211"/>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6364224" y="2185416"/>
            <a:ext cx="2478024" cy="1170432"/>
          </a:xfrm>
          <a:prstGeom prst="rect">
            <a:avLst/>
          </a:prstGeom>
          <a:noFill/>
          <a:ln/>
        </p:spPr>
        <p:txBody>
          <a:bodyPr wrap="square" rtlCol="0" anchor="b"/>
          <a:lstStyle/>
          <a:p>
            <a:pPr algn="l" indent="0" marL="0">
              <a:buNone/>
            </a:pPr>
            <a:r>
              <a:rPr lang="en-US" sz="2200" b="1" dirty="0">
                <a:solidFill>
                  <a:srgbClr val="8B1E3F"/>
                </a:solidFill>
                <a:latin typeface="Cambria" pitchFamily="34" charset="0"/>
                <a:ea typeface="Cambria" pitchFamily="34" charset="-122"/>
                <a:cs typeface="Cambria" pitchFamily="34" charset="-120"/>
              </a:rPr>
              <a:t>RMSE = ₹11.31 Cr</a:t>
            </a:r>
            <a:endParaRPr lang="en-US" sz="2200" dirty="0"/>
          </a:p>
        </p:txBody>
      </p:sp>
      <p:sp>
        <p:nvSpPr>
          <p:cNvPr id="13" name="Text 11"/>
          <p:cNvSpPr/>
          <p:nvPr/>
        </p:nvSpPr>
        <p:spPr>
          <a:xfrm>
            <a:off x="6364224" y="3355848"/>
            <a:ext cx="247802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root mean sq. error — penalises large misses</a:t>
            </a:r>
            <a:endParaRPr lang="en-US" sz="1050" dirty="0"/>
          </a:p>
        </p:txBody>
      </p:sp>
      <p:sp>
        <p:nvSpPr>
          <p:cNvPr id="14" name="Shape 12"/>
          <p:cNvSpPr/>
          <p:nvPr/>
        </p:nvSpPr>
        <p:spPr>
          <a:xfrm>
            <a:off x="9153144" y="2057400"/>
            <a:ext cx="2697480" cy="1737360"/>
          </a:xfrm>
          <a:prstGeom prst="roundRect">
            <a:avLst>
              <a:gd name="adj" fmla="val 4211"/>
            </a:avLst>
          </a:prstGeom>
          <a:solidFill>
            <a:srgbClr val="F2F1F5"/>
          </a:solidFill>
          <a:ln w="9525">
            <a:solidFill>
              <a:srgbClr val="E3E1E8"/>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9262872" y="2185416"/>
            <a:ext cx="2478024" cy="1170432"/>
          </a:xfrm>
          <a:prstGeom prst="rect">
            <a:avLst/>
          </a:prstGeom>
          <a:noFill/>
          <a:ln/>
        </p:spPr>
        <p:txBody>
          <a:bodyPr wrap="square" rtlCol="0" anchor="b"/>
          <a:lstStyle/>
          <a:p>
            <a:pPr algn="l" indent="0" marL="0">
              <a:buNone/>
            </a:pPr>
            <a:r>
              <a:rPr lang="en-US" sz="2200" b="1" dirty="0">
                <a:solidFill>
                  <a:srgbClr val="8B1E3F"/>
                </a:solidFill>
                <a:latin typeface="Cambria" pitchFamily="34" charset="0"/>
                <a:ea typeface="Cambria" pitchFamily="34" charset="-122"/>
                <a:cs typeface="Cambria" pitchFamily="34" charset="-120"/>
              </a:rPr>
              <a:t>2,104 / 2,460</a:t>
            </a:r>
            <a:endParaRPr lang="en-US" sz="2200" dirty="0"/>
          </a:p>
        </p:txBody>
      </p:sp>
      <p:sp>
        <p:nvSpPr>
          <p:cNvPr id="16" name="Text 14"/>
          <p:cNvSpPr/>
          <p:nvPr/>
        </p:nvSpPr>
        <p:spPr>
          <a:xfrm>
            <a:off x="9262872" y="3355848"/>
            <a:ext cx="2478024" cy="365760"/>
          </a:xfrm>
          <a:prstGeom prst="rect">
            <a:avLst/>
          </a:prstGeom>
          <a:noFill/>
          <a:ln/>
        </p:spPr>
        <p:txBody>
          <a:bodyPr wrap="square" rtlCol="0" anchor="t"/>
          <a:lstStyle/>
          <a:p>
            <a:pPr algn="l" indent="0" marL="0">
              <a:buNone/>
            </a:pPr>
            <a:r>
              <a:rPr lang="en-US" sz="1050" dirty="0">
                <a:solidFill>
                  <a:srgbClr val="6B6B7B"/>
                </a:solidFill>
                <a:latin typeface="Calibri" pitchFamily="34" charset="0"/>
                <a:ea typeface="Calibri" pitchFamily="34" charset="-122"/>
                <a:cs typeface="Calibri" pitchFamily="34" charset="-120"/>
              </a:rPr>
              <a:t>non-zero coefficients retained by the model</a:t>
            </a:r>
            <a:endParaRPr lang="en-US" sz="1050" dirty="0"/>
          </a:p>
        </p:txBody>
      </p:sp>
      <p:sp>
        <p:nvSpPr>
          <p:cNvPr id="17" name="Text 15"/>
          <p:cNvSpPr/>
          <p:nvPr/>
        </p:nvSpPr>
        <p:spPr>
          <a:xfrm>
            <a:off x="457200" y="4114800"/>
            <a:ext cx="1124712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Interpreting the numbers</a:t>
            </a:r>
            <a:endParaRPr lang="en-US" sz="1300" dirty="0"/>
          </a:p>
        </p:txBody>
      </p:sp>
      <p:sp>
        <p:nvSpPr>
          <p:cNvPr id="18" name="Text 16"/>
          <p:cNvSpPr/>
          <p:nvPr/>
        </p:nvSpPr>
        <p:spPr>
          <a:xfrm>
            <a:off x="457200" y="4480560"/>
            <a:ext cx="11247120" cy="1188720"/>
          </a:xfrm>
          <a:prstGeom prst="rect">
            <a:avLst/>
          </a:prstGeom>
          <a:noFill/>
          <a:ln/>
        </p:spPr>
        <p:txBody>
          <a:bodyPr wrap="square" rtlCol="0" anchor="ctr"/>
          <a:lstStyle/>
          <a:p>
            <a:pPr indent="0" marL="0">
              <a:lnSpc>
                <a:spcPct val="130000"/>
              </a:lnSpc>
              <a:buNone/>
            </a:pPr>
            <a:r>
              <a:rPr lang="en-US" sz="1250" dirty="0">
                <a:solidFill>
                  <a:srgbClr val="1A1A2E"/>
                </a:solidFill>
                <a:latin typeface="Calibri" pitchFamily="34" charset="0"/>
                <a:ea typeface="Calibri" pitchFamily="34" charset="-122"/>
                <a:cs typeface="Calibri" pitchFamily="34" charset="-120"/>
              </a:rPr>
              <a:t>An R² of 0.79 means the model explains roughly four-fifths of the variation in box-office revenue from pre-release attributes alone — strong for a domain this volatile. </a:t>
            </a:r>
            <a:pPr indent="0" marL="0">
              <a:lnSpc>
                <a:spcPct val="130000"/>
              </a:lnSpc>
              <a:buNone/>
            </a:pPr>
            <a:r>
              <a:rPr lang="en-US" sz="1250" dirty="0">
                <a:solidFill>
                  <a:srgbClr val="1A1A2E"/>
                </a:solidFill>
                <a:latin typeface="Calibri" pitchFamily="34" charset="0"/>
                <a:ea typeface="Calibri" pitchFamily="34" charset="-122"/>
                <a:cs typeface="Calibri" pitchFamily="34" charset="-120"/>
              </a:rPr>
              <a:t>The MAE of ₹6.7 Cr is reasonable against a test-set median revenue of ₹4.6 Cr, though the RMSE being nearly double the MAE signals a handful of large misses on outlier blockbusters (explored next).</a:t>
            </a:r>
            <a:endParaRPr lang="en-US" sz="1250" dirty="0"/>
          </a:p>
        </p:txBody>
      </p:sp>
      <p:sp>
        <p:nvSpPr>
          <p:cNvPr id="19" name="Shape 17"/>
          <p:cNvSpPr/>
          <p:nvPr/>
        </p:nvSpPr>
        <p:spPr>
          <a:xfrm>
            <a:off x="457200" y="5760720"/>
            <a:ext cx="11247120" cy="658368"/>
          </a:xfrm>
          <a:prstGeom prst="roundRect">
            <a:avLst>
              <a:gd name="adj" fmla="val 8333"/>
            </a:avLst>
          </a:prstGeom>
          <a:solidFill>
            <a:srgbClr val="141420"/>
          </a:solidFill>
          <a:ln/>
        </p:spPr>
      </p:sp>
      <p:sp>
        <p:nvSpPr>
          <p:cNvPr id="20" name="Text 18"/>
          <p:cNvSpPr/>
          <p:nvPr/>
        </p:nvSpPr>
        <p:spPr>
          <a:xfrm>
            <a:off x="640080" y="5760720"/>
            <a:ext cx="10881360" cy="658368"/>
          </a:xfrm>
          <a:prstGeom prst="rect">
            <a:avLst/>
          </a:prstGeom>
          <a:noFill/>
          <a:ln/>
        </p:spPr>
        <p:txBody>
          <a:bodyPr wrap="square" rtlCol="0" anchor="ctr"/>
          <a:lstStyle/>
          <a:p>
            <a:pPr indent="0" marL="0">
              <a:buNone/>
            </a:pPr>
            <a:r>
              <a:rPr lang="en-US" sz="1100" dirty="0">
                <a:solidFill>
                  <a:srgbClr val="D4AF37"/>
                </a:solidFill>
                <a:latin typeface="Courier New" pitchFamily="34" charset="0"/>
                <a:ea typeface="Courier New" pitchFamily="34" charset="-122"/>
                <a:cs typeface="Courier New" pitchFamily="34" charset="-120"/>
              </a:rPr>
              <a:t>Model parameters:  alpha = 0.1   ·   l1_ratio = 0.5   ·   max_iter = 10,000   ·   random_state = 42   ·   intercept = ₹15.06 Cr</a:t>
            </a:r>
            <a:endParaRPr lang="en-US" sz="1100" dirty="0"/>
          </a:p>
        </p:txBody>
      </p:sp>
      <p:sp>
        <p:nvSpPr>
          <p:cNvPr id="21" name="Text 19"/>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22" name="Text 2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08 · MODEL EVALUATION</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Actual vs. Predicted Revenue</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Sample of 20 test-set films (₹ Crore), with the perfect-prediction diagonal</a:t>
            </a:r>
            <a:endParaRPr lang="en-US" sz="1350" dirty="0"/>
          </a:p>
        </p:txBody>
      </p:sp>
      <p:graphicFrame>
        <p:nvGraphicFramePr>
          <p:cNvPr id="5" name="Chart 0" descr=""/>
          <p:cNvGraphicFramePr/>
          <p:nvPr/>
        </p:nvGraphicFramePr>
        <p:xfrm>
          <a:off x="365760" y="2011680"/>
          <a:ext cx="758952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138160" y="2011680"/>
            <a:ext cx="3657600" cy="320040"/>
          </a:xfrm>
          <a:prstGeom prst="rect">
            <a:avLst/>
          </a:prstGeom>
          <a:noFill/>
          <a:ln/>
        </p:spPr>
        <p:txBody>
          <a:bodyPr wrap="square" rtlCol="0" anchor="ctr"/>
          <a:lstStyle/>
          <a:p>
            <a:pPr indent="0" marL="0">
              <a:buNone/>
            </a:pPr>
            <a:r>
              <a:rPr lang="en-US" sz="1300" b="1" dirty="0">
                <a:solidFill>
                  <a:srgbClr val="8B1E3F"/>
                </a:solidFill>
                <a:latin typeface="Calibri" pitchFamily="34" charset="0"/>
                <a:ea typeface="Calibri" pitchFamily="34" charset="-122"/>
                <a:cs typeface="Calibri" pitchFamily="34" charset="-120"/>
              </a:rPr>
              <a:t>What the scatter shows</a:t>
            </a:r>
            <a:endParaRPr lang="en-US" sz="1300" dirty="0"/>
          </a:p>
        </p:txBody>
      </p:sp>
      <p:sp>
        <p:nvSpPr>
          <p:cNvPr id="7" name="Shape 4"/>
          <p:cNvSpPr/>
          <p:nvPr/>
        </p:nvSpPr>
        <p:spPr>
          <a:xfrm>
            <a:off x="8138160" y="2478024"/>
            <a:ext cx="91440" cy="91440"/>
          </a:xfrm>
          <a:prstGeom prst="ellipse">
            <a:avLst/>
          </a:prstGeom>
          <a:solidFill>
            <a:srgbClr val="D4AF37"/>
          </a:solidFill>
          <a:ln/>
        </p:spPr>
      </p:sp>
      <p:sp>
        <p:nvSpPr>
          <p:cNvPr id="8" name="Text 5"/>
          <p:cNvSpPr/>
          <p:nvPr/>
        </p:nvSpPr>
        <p:spPr>
          <a:xfrm>
            <a:off x="8348472" y="2331720"/>
            <a:ext cx="3429000" cy="1005840"/>
          </a:xfrm>
          <a:prstGeom prst="rect">
            <a:avLst/>
          </a:prstGeom>
          <a:noFill/>
          <a:ln/>
        </p:spPr>
        <p:txBody>
          <a:bodyPr wrap="square"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Mid-range films (₹2–40 Cr) cluster tightly around the diagonal — where most predictions land.</a:t>
            </a:r>
            <a:endParaRPr lang="en-US" sz="1050" dirty="0"/>
          </a:p>
        </p:txBody>
      </p:sp>
      <p:sp>
        <p:nvSpPr>
          <p:cNvPr id="9" name="Shape 6"/>
          <p:cNvSpPr/>
          <p:nvPr/>
        </p:nvSpPr>
        <p:spPr>
          <a:xfrm>
            <a:off x="8138160" y="3712464"/>
            <a:ext cx="91440" cy="91440"/>
          </a:xfrm>
          <a:prstGeom prst="ellipse">
            <a:avLst/>
          </a:prstGeom>
          <a:solidFill>
            <a:srgbClr val="D4AF37"/>
          </a:solidFill>
          <a:ln/>
        </p:spPr>
      </p:sp>
      <p:sp>
        <p:nvSpPr>
          <p:cNvPr id="10" name="Text 7"/>
          <p:cNvSpPr/>
          <p:nvPr/>
        </p:nvSpPr>
        <p:spPr>
          <a:xfrm>
            <a:off x="8348472" y="3566160"/>
            <a:ext cx="3429000" cy="1005840"/>
          </a:xfrm>
          <a:prstGeom prst="rect">
            <a:avLst/>
          </a:prstGeom>
          <a:noFill/>
          <a:ln/>
        </p:spPr>
        <p:txBody>
          <a:bodyPr wrap="square"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High-budget outliers are systematically under-predicted (points falling well below the line) — the model regresses extreme blockbusters toward the mean.</a:t>
            </a:r>
            <a:endParaRPr lang="en-US" sz="1050" dirty="0"/>
          </a:p>
        </p:txBody>
      </p:sp>
      <p:sp>
        <p:nvSpPr>
          <p:cNvPr id="11" name="Shape 8"/>
          <p:cNvSpPr/>
          <p:nvPr/>
        </p:nvSpPr>
        <p:spPr>
          <a:xfrm>
            <a:off x="8138160" y="4946904"/>
            <a:ext cx="91440" cy="91440"/>
          </a:xfrm>
          <a:prstGeom prst="ellipse">
            <a:avLst/>
          </a:prstGeom>
          <a:solidFill>
            <a:srgbClr val="D4AF37"/>
          </a:solidFill>
          <a:ln/>
        </p:spPr>
      </p:sp>
      <p:sp>
        <p:nvSpPr>
          <p:cNvPr id="12" name="Text 9"/>
          <p:cNvSpPr/>
          <p:nvPr/>
        </p:nvSpPr>
        <p:spPr>
          <a:xfrm>
            <a:off x="8348472" y="4800600"/>
            <a:ext cx="3429000" cy="1005840"/>
          </a:xfrm>
          <a:prstGeom prst="rect">
            <a:avLst/>
          </a:prstGeom>
          <a:noFill/>
          <a:ln/>
        </p:spPr>
        <p:txBody>
          <a:bodyPr wrap="square" rtlCol="0" anchor="ctr"/>
          <a:lstStyle/>
          <a:p>
            <a:pPr indent="0" marL="0">
              <a:lnSpc>
                <a:spcPct val="120000"/>
              </a:lnSpc>
              <a:buNone/>
            </a:pPr>
            <a:r>
              <a:rPr lang="en-US" sz="1050" dirty="0">
                <a:solidFill>
                  <a:srgbClr val="1A1A2E"/>
                </a:solidFill>
                <a:latin typeface="Calibri" pitchFamily="34" charset="0"/>
                <a:ea typeface="Calibri" pitchFamily="34" charset="-122"/>
                <a:cs typeface="Calibri" pitchFamily="34" charset="-120"/>
              </a:rPr>
              <a:t>A few small films show negative predictions, later clipped to ₹0 in the deployed app.</a:t>
            </a:r>
            <a:endParaRPr lang="en-US" sz="1050" dirty="0"/>
          </a:p>
        </p:txBody>
      </p:sp>
      <p:sp>
        <p:nvSpPr>
          <p:cNvPr id="13" name="Text 10"/>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14" name="Text 1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08 · MODEL EVALUATION</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Where the Model Struggles Most</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Residual diagnostics and the ten largest absolute errors</a:t>
            </a:r>
            <a:endParaRPr lang="en-US" sz="1350" dirty="0"/>
          </a:p>
        </p:txBody>
      </p:sp>
      <p:sp>
        <p:nvSpPr>
          <p:cNvPr id="5" name="Text 3"/>
          <p:cNvSpPr/>
          <p:nvPr/>
        </p:nvSpPr>
        <p:spPr>
          <a:xfrm>
            <a:off x="457200" y="1965960"/>
            <a:ext cx="5212080" cy="320040"/>
          </a:xfrm>
          <a:prstGeom prst="rect">
            <a:avLst/>
          </a:prstGeom>
          <a:noFill/>
          <a:ln/>
        </p:spPr>
        <p:txBody>
          <a:bodyPr wrap="square" rtlCol="0" anchor="ctr"/>
          <a:lstStyle/>
          <a:p>
            <a:pPr indent="0" marL="0">
              <a:buNone/>
            </a:pPr>
            <a:r>
              <a:rPr lang="en-US" sz="1250" b="1" dirty="0">
                <a:solidFill>
                  <a:srgbClr val="8B1E3F"/>
                </a:solidFill>
                <a:latin typeface="Calibri" pitchFamily="34" charset="0"/>
                <a:ea typeface="Calibri" pitchFamily="34" charset="-122"/>
                <a:cs typeface="Calibri" pitchFamily="34" charset="-120"/>
              </a:rPr>
              <a:t>Residual summary (Actual − Predicted)</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5212080" cy="2194560"/>
        </p:xfrm>
        <a:graphic>
          <a:graphicData uri="http://schemas.openxmlformats.org/drawingml/2006/table">
            <a:tbl>
              <a:tblPr/>
              <a:tblGrid>
                <a:gridCol w="2606040"/>
                <a:gridCol w="2606040"/>
              </a:tblGrid>
              <a:tr h="365760">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Stat</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r>
              <a:tr h="365760">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Mean residual</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₹0.16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65760">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Std. deviation</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₹11.32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65760">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Min (over-prediction)</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−₹25.03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65760">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Median</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−₹1.22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65760">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Max (under-prediction)</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150" dirty="0">
                          <a:solidFill>
                            <a:srgbClr val="1A1A2E"/>
                          </a:solidFill>
                          <a:latin typeface="Calibri" pitchFamily="34" charset="0"/>
                          <a:ea typeface="Calibri" pitchFamily="34" charset="-122"/>
                          <a:cs typeface="Calibri" pitchFamily="34" charset="-120"/>
                        </a:rPr>
                        <a:t>+₹68.41 Cr</a:t>
                      </a:r>
                      <a:endParaRPr lang="en-US" sz="11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bl>
          </a:graphicData>
        </a:graphic>
      </p:graphicFrame>
      <p:sp>
        <p:nvSpPr>
          <p:cNvPr id="7" name="Text 4"/>
          <p:cNvSpPr/>
          <p:nvPr/>
        </p:nvSpPr>
        <p:spPr>
          <a:xfrm>
            <a:off x="457200" y="4617720"/>
            <a:ext cx="5212080" cy="640080"/>
          </a:xfrm>
          <a:prstGeom prst="rect">
            <a:avLst/>
          </a:prstGeom>
          <a:noFill/>
          <a:ln/>
        </p:spPr>
        <p:txBody>
          <a:bodyPr wrap="square" rtlCol="0" anchor="ctr"/>
          <a:lstStyle/>
          <a:p>
            <a:pPr indent="0" marL="0">
              <a:lnSpc>
                <a:spcPct val="120000"/>
              </a:lnSpc>
              <a:buNone/>
            </a:pPr>
            <a:r>
              <a:rPr lang="en-US" sz="1050" i="1" dirty="0">
                <a:solidFill>
                  <a:srgbClr val="6B6B7B"/>
                </a:solidFill>
                <a:latin typeface="Calibri" pitchFamily="34" charset="0"/>
                <a:ea typeface="Calibri" pitchFamily="34" charset="-122"/>
                <a:cs typeface="Calibri" pitchFamily="34" charset="-120"/>
              </a:rPr>
              <a:t>Residuals centre near zero with a slight positive skew — the model more often under-predicts big hits than over-predicts flops.</a:t>
            </a:r>
            <a:endParaRPr lang="en-US" sz="1050" dirty="0"/>
          </a:p>
        </p:txBody>
      </p:sp>
      <p:sp>
        <p:nvSpPr>
          <p:cNvPr id="8" name="Text 5"/>
          <p:cNvSpPr/>
          <p:nvPr/>
        </p:nvSpPr>
        <p:spPr>
          <a:xfrm>
            <a:off x="5989320" y="1965960"/>
            <a:ext cx="5760720" cy="320040"/>
          </a:xfrm>
          <a:prstGeom prst="rect">
            <a:avLst/>
          </a:prstGeom>
          <a:noFill/>
          <a:ln/>
        </p:spPr>
        <p:txBody>
          <a:bodyPr wrap="square" rtlCol="0" anchor="ctr"/>
          <a:lstStyle/>
          <a:p>
            <a:pPr indent="0" marL="0">
              <a:buNone/>
            </a:pPr>
            <a:r>
              <a:rPr lang="en-US" sz="1250" b="1" dirty="0">
                <a:solidFill>
                  <a:srgbClr val="8B1E3F"/>
                </a:solidFill>
                <a:latin typeface="Calibri" pitchFamily="34" charset="0"/>
                <a:ea typeface="Calibri" pitchFamily="34" charset="-122"/>
                <a:cs typeface="Calibri" pitchFamily="34" charset="-120"/>
              </a:rPr>
              <a:t>10 largest absolute errors (₹ Crore)</a:t>
            </a:r>
            <a:endParaRPr lang="en-US" sz="12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989320" y="2331720"/>
          <a:ext cx="5760720" cy="3611880"/>
        </p:xfrm>
        <a:graphic>
          <a:graphicData uri="http://schemas.openxmlformats.org/drawingml/2006/table">
            <a:tbl>
              <a:tblPr/>
              <a:tblGrid>
                <a:gridCol w="1920240"/>
                <a:gridCol w="1920240"/>
                <a:gridCol w="1920240"/>
              </a:tblGrid>
              <a:tr h="329184">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Actual</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Predicted</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Abs. Error</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solidFill>
                      <a:srgbClr val="8B1E3F"/>
                    </a:solidFill>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111.6</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68.4</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165</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101.3</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63.7</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118</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61.7</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56.3</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145</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98.1</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46.9</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65</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19.7</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45.3</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29.0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42.0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97.6</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40.4</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r h="329184">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27.6</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c>
                  <a:txBody>
                    <a:bodyPr/>
                    <a:lstStyle/>
                    <a:p>
                      <a:pPr algn="r" indent="0" marL="0">
                        <a:buNone/>
                      </a:pPr>
                      <a:r>
                        <a:rPr lang="en-US" sz="1050" dirty="0">
                          <a:solidFill>
                            <a:srgbClr val="1A1A2E"/>
                          </a:solidFill>
                          <a:latin typeface="Calibri" pitchFamily="34" charset="0"/>
                          <a:ea typeface="Calibri" pitchFamily="34" charset="-122"/>
                          <a:cs typeface="Calibri" pitchFamily="34" charset="-120"/>
                        </a:rPr>
                        <a:t>27.4</a:t>
                      </a:r>
                      <a:endParaRPr lang="en-US" sz="1050" dirty="0">
                        <a:latin typeface="Calibri" charset="0"/>
                        <a:ea typeface="Calibri" charset="0"/>
                        <a:cs typeface="Calibri" charset="0"/>
                      </a:endParaRPr>
                    </a:p>
                  </a:txBody>
                  <a:tcPr marL="91440" marR="91440" marT="45720" marB="45720" anchor="ctr">
                    <a:lnL w="9525" cap="flat" cmpd="sng" algn="ctr">
                      <a:solidFill>
                        <a:srgbClr val="E3E1E8"/>
                      </a:solidFill>
                      <a:prstDash val="solid"/>
                      <a:round/>
                      <a:headEnd type="none" w="med" len="med"/>
                      <a:tailEnd type="none" w="med" len="med"/>
                    </a:lnL>
                    <a:lnR w="9525" cap="flat" cmpd="sng" algn="ctr">
                      <a:solidFill>
                        <a:srgbClr val="E3E1E8"/>
                      </a:solidFill>
                      <a:prstDash val="solid"/>
                      <a:round/>
                      <a:headEnd type="none" w="med" len="med"/>
                      <a:tailEnd type="none" w="med" len="med"/>
                    </a:lnR>
                    <a:lnT w="9525" cap="flat" cmpd="sng" algn="ctr">
                      <a:solidFill>
                        <a:srgbClr val="E3E1E8"/>
                      </a:solidFill>
                      <a:prstDash val="solid"/>
                      <a:round/>
                      <a:headEnd type="none" w="med" len="med"/>
                      <a:tailEnd type="none" w="med" len="med"/>
                    </a:lnT>
                    <a:lnB w="9525" cap="flat" cmpd="sng" algn="ctr">
                      <a:solidFill>
                        <a:srgbClr val="E3E1E8"/>
                      </a:solidFill>
                      <a:prstDash val="solid"/>
                      <a:round/>
                      <a:headEnd type="none" w="med" len="med"/>
                      <a:tailEnd type="none" w="med" len="med"/>
                    </a:lnB>
                  </a:tcPr>
                </a:tc>
              </a:tr>
            </a:tbl>
          </a:graphicData>
        </a:graphic>
      </p:graphicFrame>
      <p:sp>
        <p:nvSpPr>
          <p:cNvPr id="10" name="Text 6"/>
          <p:cNvSpPr/>
          <p:nvPr/>
        </p:nvSpPr>
        <p:spPr>
          <a:xfrm>
            <a:off x="457200" y="6035040"/>
            <a:ext cx="11247120" cy="365760"/>
          </a:xfrm>
          <a:prstGeom prst="rect">
            <a:avLst/>
          </a:prstGeom>
          <a:noFill/>
          <a:ln/>
        </p:spPr>
        <p:txBody>
          <a:bodyPr wrap="square" rtlCol="0" anchor="ctr"/>
          <a:lstStyle/>
          <a:p>
            <a:pPr indent="0" marL="0">
              <a:buNone/>
            </a:pPr>
            <a:r>
              <a:rPr lang="en-US" sz="1050" i="1" dirty="0">
                <a:solidFill>
                  <a:srgbClr val="8B1E3F"/>
                </a:solidFill>
                <a:latin typeface="Calibri" pitchFamily="34" charset="0"/>
                <a:ea typeface="Calibri" pitchFamily="34" charset="-122"/>
                <a:cs typeface="Calibri" pitchFamily="34" charset="-120"/>
              </a:rPr>
              <a:t>Every one of the ten largest errors is a big-budget, wide-release film — confirming that blockbuster-scale outcomes are the hardest segment to forecast.</a:t>
            </a:r>
            <a:endParaRPr lang="en-US" sz="1050" dirty="0"/>
          </a:p>
        </p:txBody>
      </p:sp>
      <p:sp>
        <p:nvSpPr>
          <p:cNvPr id="11" name="Text 7"/>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12" name="Text 8"/>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STAGE 09 · SAVE MODEL</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Persisting the Final Estimator</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joblib serialises the fitted pipeline for reuse without retraining</a:t>
            </a:r>
            <a:endParaRPr lang="en-US" sz="1350" dirty="0"/>
          </a:p>
        </p:txBody>
      </p:sp>
      <p:sp>
        <p:nvSpPr>
          <p:cNvPr id="5" name="Shape 3"/>
          <p:cNvSpPr/>
          <p:nvPr/>
        </p:nvSpPr>
        <p:spPr>
          <a:xfrm>
            <a:off x="457200" y="2057400"/>
            <a:ext cx="11247120" cy="914400"/>
          </a:xfrm>
          <a:prstGeom prst="roundRect">
            <a:avLst>
              <a:gd name="adj" fmla="val 6000"/>
            </a:avLst>
          </a:prstGeom>
          <a:solidFill>
            <a:srgbClr val="F2F1F5"/>
          </a:solidFill>
          <a:ln w="9525">
            <a:solidFill>
              <a:srgbClr val="E3E1E8"/>
            </a:solidFill>
            <a:prstDash val="solid"/>
          </a:ln>
        </p:spPr>
      </p:sp>
      <p:sp>
        <p:nvSpPr>
          <p:cNvPr id="6" name="Shape 4"/>
          <p:cNvSpPr/>
          <p:nvPr/>
        </p:nvSpPr>
        <p:spPr>
          <a:xfrm>
            <a:off x="658368" y="2240280"/>
            <a:ext cx="548640" cy="548640"/>
          </a:xfrm>
          <a:prstGeom prst="ellipse">
            <a:avLst/>
          </a:prstGeom>
          <a:solidFill>
            <a:srgbClr val="8B1E3F"/>
          </a:solidFill>
          <a:ln/>
        </p:spPr>
      </p:sp>
      <p:sp>
        <p:nvSpPr>
          <p:cNvPr id="7" name="Text 5"/>
          <p:cNvSpPr/>
          <p:nvPr/>
        </p:nvSpPr>
        <p:spPr>
          <a:xfrm>
            <a:off x="658368" y="224028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1</a:t>
            </a:r>
            <a:endParaRPr lang="en-US" sz="1560" dirty="0"/>
          </a:p>
        </p:txBody>
      </p:sp>
      <p:sp>
        <p:nvSpPr>
          <p:cNvPr id="8" name="Text 6"/>
          <p:cNvSpPr/>
          <p:nvPr/>
        </p:nvSpPr>
        <p:spPr>
          <a:xfrm>
            <a:off x="1417320" y="2130552"/>
            <a:ext cx="3108960" cy="77724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Reload &amp; re-verify</a:t>
            </a:r>
            <a:endParaRPr lang="en-US" sz="1300" dirty="0"/>
          </a:p>
        </p:txBody>
      </p:sp>
      <p:sp>
        <p:nvSpPr>
          <p:cNvPr id="9" name="Text 7"/>
          <p:cNvSpPr/>
          <p:nvPr/>
        </p:nvSpPr>
        <p:spPr>
          <a:xfrm>
            <a:off x="4663440" y="2130552"/>
            <a:ext cx="6858000" cy="777240"/>
          </a:xfrm>
          <a:prstGeom prst="rect">
            <a:avLst/>
          </a:prstGeom>
          <a:noFill/>
          <a:ln/>
        </p:spPr>
        <p:txBody>
          <a:bodyPr wrap="square" rtlCol="0" anchor="ctr"/>
          <a:lstStyle/>
          <a:p>
            <a:pPr indent="0" marL="0">
              <a:lnSpc>
                <a:spcPct val="115000"/>
              </a:lnSpc>
              <a:buNone/>
            </a:pPr>
            <a:r>
              <a:rPr lang="en-US" sz="1100" dirty="0">
                <a:solidFill>
                  <a:srgbClr val="6B6B7B"/>
                </a:solidFill>
                <a:latin typeface="Calibri" pitchFamily="34" charset="0"/>
                <a:ea typeface="Calibri" pitchFamily="34" charset="-122"/>
                <a:cs typeface="Calibri" pitchFamily="34" charset="-120"/>
              </a:rPr>
              <a:t>Load elastic_net_model.pkl and confirm predictions on X_test match the training run exactly</a:t>
            </a:r>
            <a:endParaRPr lang="en-US" sz="1100" dirty="0"/>
          </a:p>
        </p:txBody>
      </p:sp>
      <p:sp>
        <p:nvSpPr>
          <p:cNvPr id="10" name="Shape 8"/>
          <p:cNvSpPr/>
          <p:nvPr/>
        </p:nvSpPr>
        <p:spPr>
          <a:xfrm>
            <a:off x="457200" y="3108960"/>
            <a:ext cx="11247120" cy="914400"/>
          </a:xfrm>
          <a:prstGeom prst="roundRect">
            <a:avLst>
              <a:gd name="adj" fmla="val 6000"/>
            </a:avLst>
          </a:prstGeom>
          <a:solidFill>
            <a:srgbClr val="FBF8F2"/>
          </a:solidFill>
          <a:ln w="9525">
            <a:solidFill>
              <a:srgbClr val="E3E1E8"/>
            </a:solidFill>
            <a:prstDash val="solid"/>
          </a:ln>
        </p:spPr>
      </p:sp>
      <p:sp>
        <p:nvSpPr>
          <p:cNvPr id="11" name="Shape 9"/>
          <p:cNvSpPr/>
          <p:nvPr/>
        </p:nvSpPr>
        <p:spPr>
          <a:xfrm>
            <a:off x="658368" y="3291840"/>
            <a:ext cx="548640" cy="548640"/>
          </a:xfrm>
          <a:prstGeom prst="ellipse">
            <a:avLst/>
          </a:prstGeom>
          <a:solidFill>
            <a:srgbClr val="8B1E3F"/>
          </a:solidFill>
          <a:ln/>
        </p:spPr>
      </p:sp>
      <p:sp>
        <p:nvSpPr>
          <p:cNvPr id="12" name="Text 10"/>
          <p:cNvSpPr/>
          <p:nvPr/>
        </p:nvSpPr>
        <p:spPr>
          <a:xfrm>
            <a:off x="658368" y="329184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2</a:t>
            </a:r>
            <a:endParaRPr lang="en-US" sz="1560" dirty="0"/>
          </a:p>
        </p:txBody>
      </p:sp>
      <p:sp>
        <p:nvSpPr>
          <p:cNvPr id="13" name="Text 11"/>
          <p:cNvSpPr/>
          <p:nvPr/>
        </p:nvSpPr>
        <p:spPr>
          <a:xfrm>
            <a:off x="1417320" y="3182112"/>
            <a:ext cx="3108960" cy="77724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Recompute metrics</a:t>
            </a:r>
            <a:endParaRPr lang="en-US" sz="1300" dirty="0"/>
          </a:p>
        </p:txBody>
      </p:sp>
      <p:sp>
        <p:nvSpPr>
          <p:cNvPr id="14" name="Text 12"/>
          <p:cNvSpPr/>
          <p:nvPr/>
        </p:nvSpPr>
        <p:spPr>
          <a:xfrm>
            <a:off x="4663440" y="3182112"/>
            <a:ext cx="6858000" cy="777240"/>
          </a:xfrm>
          <a:prstGeom prst="rect">
            <a:avLst/>
          </a:prstGeom>
          <a:noFill/>
          <a:ln/>
        </p:spPr>
        <p:txBody>
          <a:bodyPr wrap="square" rtlCol="0" anchor="ctr"/>
          <a:lstStyle/>
          <a:p>
            <a:pPr indent="0" marL="0">
              <a:lnSpc>
                <a:spcPct val="115000"/>
              </a:lnSpc>
              <a:buNone/>
            </a:pPr>
            <a:r>
              <a:rPr lang="en-US" sz="1100" dirty="0">
                <a:solidFill>
                  <a:srgbClr val="6B6B7B"/>
                </a:solidFill>
                <a:latin typeface="Calibri" pitchFamily="34" charset="0"/>
                <a:ea typeface="Calibri" pitchFamily="34" charset="-122"/>
                <a:cs typeface="Calibri" pitchFamily="34" charset="-120"/>
              </a:rPr>
              <a:t>MAE ₹6.70 Cr · RMSE ₹11.31 Cr · R² 0.794 — identical to Stage 08, proving reproducibility</a:t>
            </a:r>
            <a:endParaRPr lang="en-US" sz="1100" dirty="0"/>
          </a:p>
        </p:txBody>
      </p:sp>
      <p:sp>
        <p:nvSpPr>
          <p:cNvPr id="15" name="Shape 13"/>
          <p:cNvSpPr/>
          <p:nvPr/>
        </p:nvSpPr>
        <p:spPr>
          <a:xfrm>
            <a:off x="457200" y="4160520"/>
            <a:ext cx="11247120" cy="914400"/>
          </a:xfrm>
          <a:prstGeom prst="roundRect">
            <a:avLst>
              <a:gd name="adj" fmla="val 6000"/>
            </a:avLst>
          </a:prstGeom>
          <a:solidFill>
            <a:srgbClr val="F2F1F5"/>
          </a:solidFill>
          <a:ln w="9525">
            <a:solidFill>
              <a:srgbClr val="E3E1E8"/>
            </a:solidFill>
            <a:prstDash val="solid"/>
          </a:ln>
        </p:spPr>
      </p:sp>
      <p:sp>
        <p:nvSpPr>
          <p:cNvPr id="16" name="Shape 14"/>
          <p:cNvSpPr/>
          <p:nvPr/>
        </p:nvSpPr>
        <p:spPr>
          <a:xfrm>
            <a:off x="658368" y="4343400"/>
            <a:ext cx="548640" cy="548640"/>
          </a:xfrm>
          <a:prstGeom prst="ellipse">
            <a:avLst/>
          </a:prstGeom>
          <a:solidFill>
            <a:srgbClr val="8B1E3F"/>
          </a:solidFill>
          <a:ln/>
        </p:spPr>
      </p:sp>
      <p:sp>
        <p:nvSpPr>
          <p:cNvPr id="17" name="Text 15"/>
          <p:cNvSpPr/>
          <p:nvPr/>
        </p:nvSpPr>
        <p:spPr>
          <a:xfrm>
            <a:off x="658368" y="434340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3</a:t>
            </a:r>
            <a:endParaRPr lang="en-US" sz="1560" dirty="0"/>
          </a:p>
        </p:txBody>
      </p:sp>
      <p:sp>
        <p:nvSpPr>
          <p:cNvPr id="18" name="Text 16"/>
          <p:cNvSpPr/>
          <p:nvPr/>
        </p:nvSpPr>
        <p:spPr>
          <a:xfrm>
            <a:off x="1417320" y="4233672"/>
            <a:ext cx="3108960" cy="77724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Log model_information.csv</a:t>
            </a:r>
            <a:endParaRPr lang="en-US" sz="1300" dirty="0"/>
          </a:p>
        </p:txBody>
      </p:sp>
      <p:sp>
        <p:nvSpPr>
          <p:cNvPr id="19" name="Text 17"/>
          <p:cNvSpPr/>
          <p:nvPr/>
        </p:nvSpPr>
        <p:spPr>
          <a:xfrm>
            <a:off x="4663440" y="4233672"/>
            <a:ext cx="6858000" cy="777240"/>
          </a:xfrm>
          <a:prstGeom prst="rect">
            <a:avLst/>
          </a:prstGeom>
          <a:noFill/>
          <a:ln/>
        </p:spPr>
        <p:txBody>
          <a:bodyPr wrap="square" rtlCol="0" anchor="ctr"/>
          <a:lstStyle/>
          <a:p>
            <a:pPr indent="0" marL="0">
              <a:lnSpc>
                <a:spcPct val="115000"/>
              </a:lnSpc>
              <a:buNone/>
            </a:pPr>
            <a:r>
              <a:rPr lang="en-US" sz="1100" dirty="0">
                <a:solidFill>
                  <a:srgbClr val="6B6B7B"/>
                </a:solidFill>
                <a:latin typeface="Calibri" pitchFamily="34" charset="0"/>
                <a:ea typeface="Calibri" pitchFamily="34" charset="-122"/>
                <a:cs typeface="Calibri" pitchFamily="34" charset="-120"/>
              </a:rPr>
              <a:t>Captures model name, feature count, sample sizes, hyperparameters and metrics in one row</a:t>
            </a:r>
            <a:endParaRPr lang="en-US" sz="1100" dirty="0"/>
          </a:p>
        </p:txBody>
      </p:sp>
      <p:sp>
        <p:nvSpPr>
          <p:cNvPr id="20" name="Shape 18"/>
          <p:cNvSpPr/>
          <p:nvPr/>
        </p:nvSpPr>
        <p:spPr>
          <a:xfrm>
            <a:off x="457200" y="5212080"/>
            <a:ext cx="11247120" cy="914400"/>
          </a:xfrm>
          <a:prstGeom prst="roundRect">
            <a:avLst>
              <a:gd name="adj" fmla="val 6000"/>
            </a:avLst>
          </a:prstGeom>
          <a:solidFill>
            <a:srgbClr val="FBF8F2"/>
          </a:solidFill>
          <a:ln w="9525">
            <a:solidFill>
              <a:srgbClr val="E3E1E8"/>
            </a:solidFill>
            <a:prstDash val="solid"/>
          </a:ln>
        </p:spPr>
      </p:sp>
      <p:sp>
        <p:nvSpPr>
          <p:cNvPr id="21" name="Shape 19"/>
          <p:cNvSpPr/>
          <p:nvPr/>
        </p:nvSpPr>
        <p:spPr>
          <a:xfrm>
            <a:off x="658368" y="5394960"/>
            <a:ext cx="548640" cy="548640"/>
          </a:xfrm>
          <a:prstGeom prst="ellipse">
            <a:avLst/>
          </a:prstGeom>
          <a:solidFill>
            <a:srgbClr val="8B1E3F"/>
          </a:solidFill>
          <a:ln/>
        </p:spPr>
      </p:sp>
      <p:sp>
        <p:nvSpPr>
          <p:cNvPr id="22" name="Text 20"/>
          <p:cNvSpPr/>
          <p:nvPr/>
        </p:nvSpPr>
        <p:spPr>
          <a:xfrm>
            <a:off x="658368" y="5394960"/>
            <a:ext cx="548640" cy="548640"/>
          </a:xfrm>
          <a:prstGeom prst="rect">
            <a:avLst/>
          </a:prstGeom>
          <a:noFill/>
          <a:ln/>
        </p:spPr>
        <p:txBody>
          <a:bodyPr wrap="square"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4</a:t>
            </a:r>
            <a:endParaRPr lang="en-US" sz="1560" dirty="0"/>
          </a:p>
        </p:txBody>
      </p:sp>
      <p:sp>
        <p:nvSpPr>
          <p:cNvPr id="23" name="Text 21"/>
          <p:cNvSpPr/>
          <p:nvPr/>
        </p:nvSpPr>
        <p:spPr>
          <a:xfrm>
            <a:off x="1417320" y="5285232"/>
            <a:ext cx="3108960" cy="77724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Freeze final_elastic_net_model.pkl</a:t>
            </a:r>
            <a:endParaRPr lang="en-US" sz="1300" dirty="0"/>
          </a:p>
        </p:txBody>
      </p:sp>
      <p:sp>
        <p:nvSpPr>
          <p:cNvPr id="24" name="Text 22"/>
          <p:cNvSpPr/>
          <p:nvPr/>
        </p:nvSpPr>
        <p:spPr>
          <a:xfrm>
            <a:off x="4663440" y="5285232"/>
            <a:ext cx="6858000" cy="777240"/>
          </a:xfrm>
          <a:prstGeom prst="rect">
            <a:avLst/>
          </a:prstGeom>
          <a:noFill/>
          <a:ln/>
        </p:spPr>
        <p:txBody>
          <a:bodyPr wrap="square" rtlCol="0" anchor="ctr"/>
          <a:lstStyle/>
          <a:p>
            <a:pPr indent="0" marL="0">
              <a:lnSpc>
                <a:spcPct val="115000"/>
              </a:lnSpc>
              <a:buNone/>
            </a:pPr>
            <a:r>
              <a:rPr lang="en-US" sz="1100" dirty="0">
                <a:solidFill>
                  <a:srgbClr val="6B6B7B"/>
                </a:solidFill>
                <a:latin typeface="Calibri" pitchFamily="34" charset="0"/>
                <a:ea typeface="Calibri" pitchFamily="34" charset="-122"/>
                <a:cs typeface="Calibri" pitchFamily="34" charset="-120"/>
              </a:rPr>
              <a:t>The exact artifact the Gradio app loads at inference time</a:t>
            </a:r>
            <a:endParaRPr lang="en-US" sz="1100" dirty="0"/>
          </a:p>
        </p:txBody>
      </p:sp>
      <p:sp>
        <p:nvSpPr>
          <p:cNvPr id="25" name="Text 23"/>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20"/>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D4AF37"/>
                </a:solidFill>
                <a:latin typeface="Calibri" pitchFamily="34" charset="0"/>
                <a:ea typeface="Calibri" pitchFamily="34" charset="-122"/>
                <a:cs typeface="Calibri" pitchFamily="34" charset="-120"/>
              </a:rPr>
              <a:t>STAGE 10 · DEPLOYMENT</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Live Prediction App with Gradio</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C7C6D6"/>
                </a:solidFill>
                <a:latin typeface="Calibri" pitchFamily="34" charset="0"/>
                <a:ea typeface="Calibri" pitchFamily="34" charset="-122"/>
                <a:cs typeface="Calibri" pitchFamily="34" charset="-120"/>
              </a:rPr>
              <a:t>Producers and analysts query the model without touching code</a:t>
            </a:r>
            <a:endParaRPr lang="en-US" sz="1350" dirty="0"/>
          </a:p>
        </p:txBody>
      </p:sp>
      <p:sp>
        <p:nvSpPr>
          <p:cNvPr id="5" name="Shape 3"/>
          <p:cNvSpPr/>
          <p:nvPr/>
        </p:nvSpPr>
        <p:spPr>
          <a:xfrm>
            <a:off x="548640" y="2103120"/>
            <a:ext cx="6035040" cy="4114800"/>
          </a:xfrm>
          <a:prstGeom prst="roundRect">
            <a:avLst>
              <a:gd name="adj" fmla="val 1778"/>
            </a:avLst>
          </a:prstGeom>
          <a:solidFill>
            <a:srgbClr val="FFFFFF"/>
          </a:solidFill>
          <a:ln/>
        </p:spPr>
      </p:sp>
      <p:sp>
        <p:nvSpPr>
          <p:cNvPr id="6" name="Text 4"/>
          <p:cNvSpPr/>
          <p:nvPr/>
        </p:nvSpPr>
        <p:spPr>
          <a:xfrm>
            <a:off x="822960" y="2286000"/>
            <a:ext cx="5486400" cy="365760"/>
          </a:xfrm>
          <a:prstGeom prst="rect">
            <a:avLst/>
          </a:prstGeom>
          <a:noFill/>
          <a:ln/>
        </p:spPr>
        <p:txBody>
          <a:bodyPr wrap="square"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  Box Office Revenue Predictor</a:t>
            </a:r>
            <a:endParaRPr lang="en-US" sz="1500" dirty="0"/>
          </a:p>
        </p:txBody>
      </p:sp>
      <p:sp>
        <p:nvSpPr>
          <p:cNvPr id="7" name="Shape 5"/>
          <p:cNvSpPr/>
          <p:nvPr/>
        </p:nvSpPr>
        <p:spPr>
          <a:xfrm>
            <a:off x="822960" y="2788920"/>
            <a:ext cx="2606040" cy="566928"/>
          </a:xfrm>
          <a:prstGeom prst="roundRect">
            <a:avLst>
              <a:gd name="adj" fmla="val 8065"/>
            </a:avLst>
          </a:prstGeom>
          <a:solidFill>
            <a:srgbClr val="F2F1F5"/>
          </a:solidFill>
          <a:ln w="9525">
            <a:solidFill>
              <a:srgbClr val="E3E1E8"/>
            </a:solidFill>
            <a:prstDash val="solid"/>
          </a:ln>
        </p:spPr>
      </p:sp>
      <p:sp>
        <p:nvSpPr>
          <p:cNvPr id="8" name="Text 6"/>
          <p:cNvSpPr/>
          <p:nvPr/>
        </p:nvSpPr>
        <p:spPr>
          <a:xfrm>
            <a:off x="932688" y="2834640"/>
            <a:ext cx="2377440" cy="228600"/>
          </a:xfrm>
          <a:prstGeom prst="rect">
            <a:avLst/>
          </a:prstGeom>
          <a:noFill/>
          <a:ln/>
        </p:spPr>
        <p:txBody>
          <a:bodyPr wrap="square" rtlCol="0" anchor="ctr"/>
          <a:lstStyle/>
          <a:p>
            <a:pPr indent="0" marL="0">
              <a:buNone/>
            </a:pPr>
            <a:r>
              <a:rPr lang="en-US" sz="850" dirty="0">
                <a:solidFill>
                  <a:srgbClr val="6B6B7B"/>
                </a:solidFill>
                <a:latin typeface="Calibri" pitchFamily="34" charset="0"/>
                <a:ea typeface="Calibri" pitchFamily="34" charset="-122"/>
                <a:cs typeface="Calibri" pitchFamily="34" charset="-120"/>
              </a:rPr>
              <a:t>Release Period</a:t>
            </a:r>
            <a:endParaRPr lang="en-US" sz="850" dirty="0"/>
          </a:p>
        </p:txBody>
      </p:sp>
      <p:sp>
        <p:nvSpPr>
          <p:cNvPr id="9" name="Text 7"/>
          <p:cNvSpPr/>
          <p:nvPr/>
        </p:nvSpPr>
        <p:spPr>
          <a:xfrm>
            <a:off x="932688" y="3044952"/>
            <a:ext cx="2377440" cy="25603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a:t>
            </a:r>
            <a:endParaRPr lang="en-US" sz="1000" dirty="0"/>
          </a:p>
        </p:txBody>
      </p:sp>
      <p:sp>
        <p:nvSpPr>
          <p:cNvPr id="10" name="Shape 8"/>
          <p:cNvSpPr/>
          <p:nvPr/>
        </p:nvSpPr>
        <p:spPr>
          <a:xfrm>
            <a:off x="3611880" y="2788920"/>
            <a:ext cx="2606040" cy="566928"/>
          </a:xfrm>
          <a:prstGeom prst="roundRect">
            <a:avLst>
              <a:gd name="adj" fmla="val 8065"/>
            </a:avLst>
          </a:prstGeom>
          <a:solidFill>
            <a:srgbClr val="F2F1F5"/>
          </a:solidFill>
          <a:ln w="9525">
            <a:solidFill>
              <a:srgbClr val="E3E1E8"/>
            </a:solidFill>
            <a:prstDash val="solid"/>
          </a:ln>
        </p:spPr>
      </p:sp>
      <p:sp>
        <p:nvSpPr>
          <p:cNvPr id="11" name="Text 9"/>
          <p:cNvSpPr/>
          <p:nvPr/>
        </p:nvSpPr>
        <p:spPr>
          <a:xfrm>
            <a:off x="3721608" y="2834640"/>
            <a:ext cx="2377440" cy="228600"/>
          </a:xfrm>
          <a:prstGeom prst="rect">
            <a:avLst/>
          </a:prstGeom>
          <a:noFill/>
          <a:ln/>
        </p:spPr>
        <p:txBody>
          <a:bodyPr wrap="square" rtlCol="0" anchor="ctr"/>
          <a:lstStyle/>
          <a:p>
            <a:pPr indent="0" marL="0">
              <a:buNone/>
            </a:pPr>
            <a:r>
              <a:rPr lang="en-US" sz="850" dirty="0">
                <a:solidFill>
                  <a:srgbClr val="6B6B7B"/>
                </a:solidFill>
                <a:latin typeface="Calibri" pitchFamily="34" charset="0"/>
                <a:ea typeface="Calibri" pitchFamily="34" charset="-122"/>
                <a:cs typeface="Calibri" pitchFamily="34" charset="-120"/>
              </a:rPr>
              <a:t>Genre</a:t>
            </a:r>
            <a:endParaRPr lang="en-US" sz="850" dirty="0"/>
          </a:p>
        </p:txBody>
      </p:sp>
      <p:sp>
        <p:nvSpPr>
          <p:cNvPr id="12" name="Text 10"/>
          <p:cNvSpPr/>
          <p:nvPr/>
        </p:nvSpPr>
        <p:spPr>
          <a:xfrm>
            <a:off x="3721608" y="3044952"/>
            <a:ext cx="2377440" cy="25603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a:t>
            </a:r>
            <a:endParaRPr lang="en-US" sz="1000" dirty="0"/>
          </a:p>
        </p:txBody>
      </p:sp>
      <p:sp>
        <p:nvSpPr>
          <p:cNvPr id="13" name="Shape 11"/>
          <p:cNvSpPr/>
          <p:nvPr/>
        </p:nvSpPr>
        <p:spPr>
          <a:xfrm>
            <a:off x="822960" y="3566160"/>
            <a:ext cx="2606040" cy="566928"/>
          </a:xfrm>
          <a:prstGeom prst="roundRect">
            <a:avLst>
              <a:gd name="adj" fmla="val 8065"/>
            </a:avLst>
          </a:prstGeom>
          <a:solidFill>
            <a:srgbClr val="F2F1F5"/>
          </a:solidFill>
          <a:ln w="9525">
            <a:solidFill>
              <a:srgbClr val="E3E1E8"/>
            </a:solidFill>
            <a:prstDash val="solid"/>
          </a:ln>
        </p:spPr>
      </p:sp>
      <p:sp>
        <p:nvSpPr>
          <p:cNvPr id="14" name="Text 12"/>
          <p:cNvSpPr/>
          <p:nvPr/>
        </p:nvSpPr>
        <p:spPr>
          <a:xfrm>
            <a:off x="932688" y="3611880"/>
            <a:ext cx="2377440" cy="228600"/>
          </a:xfrm>
          <a:prstGeom prst="rect">
            <a:avLst/>
          </a:prstGeom>
          <a:noFill/>
          <a:ln/>
        </p:spPr>
        <p:txBody>
          <a:bodyPr wrap="square" rtlCol="0" anchor="ctr"/>
          <a:lstStyle/>
          <a:p>
            <a:pPr indent="0" marL="0">
              <a:buNone/>
            </a:pPr>
            <a:r>
              <a:rPr lang="en-US" sz="850" dirty="0">
                <a:solidFill>
                  <a:srgbClr val="6B6B7B"/>
                </a:solidFill>
                <a:latin typeface="Calibri" pitchFamily="34" charset="0"/>
                <a:ea typeface="Calibri" pitchFamily="34" charset="-122"/>
                <a:cs typeface="Calibri" pitchFamily="34" charset="-120"/>
              </a:rPr>
              <a:t>Lead Star</a:t>
            </a:r>
            <a:endParaRPr lang="en-US" sz="850" dirty="0"/>
          </a:p>
        </p:txBody>
      </p:sp>
      <p:sp>
        <p:nvSpPr>
          <p:cNvPr id="15" name="Text 13"/>
          <p:cNvSpPr/>
          <p:nvPr/>
        </p:nvSpPr>
        <p:spPr>
          <a:xfrm>
            <a:off x="932688" y="3822192"/>
            <a:ext cx="2377440" cy="25603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3611880" y="3566160"/>
            <a:ext cx="2606040" cy="566928"/>
          </a:xfrm>
          <a:prstGeom prst="roundRect">
            <a:avLst>
              <a:gd name="adj" fmla="val 8065"/>
            </a:avLst>
          </a:prstGeom>
          <a:solidFill>
            <a:srgbClr val="F2F1F5"/>
          </a:solidFill>
          <a:ln w="9525">
            <a:solidFill>
              <a:srgbClr val="E3E1E8"/>
            </a:solidFill>
            <a:prstDash val="solid"/>
          </a:ln>
        </p:spPr>
      </p:sp>
      <p:sp>
        <p:nvSpPr>
          <p:cNvPr id="17" name="Text 15"/>
          <p:cNvSpPr/>
          <p:nvPr/>
        </p:nvSpPr>
        <p:spPr>
          <a:xfrm>
            <a:off x="3721608" y="3611880"/>
            <a:ext cx="2377440" cy="228600"/>
          </a:xfrm>
          <a:prstGeom prst="rect">
            <a:avLst/>
          </a:prstGeom>
          <a:noFill/>
          <a:ln/>
        </p:spPr>
        <p:txBody>
          <a:bodyPr wrap="square" rtlCol="0" anchor="ctr"/>
          <a:lstStyle/>
          <a:p>
            <a:pPr indent="0" marL="0">
              <a:buNone/>
            </a:pPr>
            <a:r>
              <a:rPr lang="en-US" sz="850" dirty="0">
                <a:solidFill>
                  <a:srgbClr val="6B6B7B"/>
                </a:solidFill>
                <a:latin typeface="Calibri" pitchFamily="34" charset="0"/>
                <a:ea typeface="Calibri" pitchFamily="34" charset="-122"/>
                <a:cs typeface="Calibri" pitchFamily="34" charset="-120"/>
              </a:rPr>
              <a:t>Director</a:t>
            </a:r>
            <a:endParaRPr lang="en-US" sz="850" dirty="0"/>
          </a:p>
        </p:txBody>
      </p:sp>
      <p:sp>
        <p:nvSpPr>
          <p:cNvPr id="18" name="Text 16"/>
          <p:cNvSpPr/>
          <p:nvPr/>
        </p:nvSpPr>
        <p:spPr>
          <a:xfrm>
            <a:off x="3721608" y="3822192"/>
            <a:ext cx="2377440" cy="25603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822960" y="4343400"/>
            <a:ext cx="2606040" cy="566928"/>
          </a:xfrm>
          <a:prstGeom prst="roundRect">
            <a:avLst>
              <a:gd name="adj" fmla="val 8065"/>
            </a:avLst>
          </a:prstGeom>
          <a:solidFill>
            <a:srgbClr val="F2F1F5"/>
          </a:solidFill>
          <a:ln w="9525">
            <a:solidFill>
              <a:srgbClr val="E3E1E8"/>
            </a:solidFill>
            <a:prstDash val="solid"/>
          </a:ln>
        </p:spPr>
      </p:sp>
      <p:sp>
        <p:nvSpPr>
          <p:cNvPr id="20" name="Text 18"/>
          <p:cNvSpPr/>
          <p:nvPr/>
        </p:nvSpPr>
        <p:spPr>
          <a:xfrm>
            <a:off x="932688" y="4389120"/>
            <a:ext cx="2377440" cy="228600"/>
          </a:xfrm>
          <a:prstGeom prst="rect">
            <a:avLst/>
          </a:prstGeom>
          <a:noFill/>
          <a:ln/>
        </p:spPr>
        <p:txBody>
          <a:bodyPr wrap="square" rtlCol="0" anchor="ctr"/>
          <a:lstStyle/>
          <a:p>
            <a:pPr indent="0" marL="0">
              <a:buNone/>
            </a:pPr>
            <a:r>
              <a:rPr lang="en-US" sz="850" dirty="0">
                <a:solidFill>
                  <a:srgbClr val="6B6B7B"/>
                </a:solidFill>
                <a:latin typeface="Calibri" pitchFamily="34" charset="0"/>
                <a:ea typeface="Calibri" pitchFamily="34" charset="-122"/>
                <a:cs typeface="Calibri" pitchFamily="34" charset="-120"/>
              </a:rPr>
              <a:t>Number of Screens</a:t>
            </a:r>
            <a:endParaRPr lang="en-US" sz="850" dirty="0"/>
          </a:p>
        </p:txBody>
      </p:sp>
      <p:sp>
        <p:nvSpPr>
          <p:cNvPr id="21" name="Text 19"/>
          <p:cNvSpPr/>
          <p:nvPr/>
        </p:nvSpPr>
        <p:spPr>
          <a:xfrm>
            <a:off x="932688" y="4599432"/>
            <a:ext cx="2377440" cy="25603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a:t>
            </a:r>
            <a:endParaRPr lang="en-US" sz="1000" dirty="0"/>
          </a:p>
        </p:txBody>
      </p:sp>
      <p:sp>
        <p:nvSpPr>
          <p:cNvPr id="22" name="Shape 20"/>
          <p:cNvSpPr/>
          <p:nvPr/>
        </p:nvSpPr>
        <p:spPr>
          <a:xfrm>
            <a:off x="3611880" y="4343400"/>
            <a:ext cx="2606040" cy="566928"/>
          </a:xfrm>
          <a:prstGeom prst="roundRect">
            <a:avLst>
              <a:gd name="adj" fmla="val 8065"/>
            </a:avLst>
          </a:prstGeom>
          <a:solidFill>
            <a:srgbClr val="F2F1F5"/>
          </a:solidFill>
          <a:ln w="9525">
            <a:solidFill>
              <a:srgbClr val="E3E1E8"/>
            </a:solidFill>
            <a:prstDash val="solid"/>
          </a:ln>
        </p:spPr>
      </p:sp>
      <p:sp>
        <p:nvSpPr>
          <p:cNvPr id="23" name="Text 21"/>
          <p:cNvSpPr/>
          <p:nvPr/>
        </p:nvSpPr>
        <p:spPr>
          <a:xfrm>
            <a:off x="3721608" y="4389120"/>
            <a:ext cx="2377440" cy="228600"/>
          </a:xfrm>
          <a:prstGeom prst="rect">
            <a:avLst/>
          </a:prstGeom>
          <a:noFill/>
          <a:ln/>
        </p:spPr>
        <p:txBody>
          <a:bodyPr wrap="square" rtlCol="0" anchor="ctr"/>
          <a:lstStyle/>
          <a:p>
            <a:pPr indent="0" marL="0">
              <a:buNone/>
            </a:pPr>
            <a:r>
              <a:rPr lang="en-US" sz="850" dirty="0">
                <a:solidFill>
                  <a:srgbClr val="6B6B7B"/>
                </a:solidFill>
                <a:latin typeface="Calibri" pitchFamily="34" charset="0"/>
                <a:ea typeface="Calibri" pitchFamily="34" charset="-122"/>
                <a:cs typeface="Calibri" pitchFamily="34" charset="-120"/>
              </a:rPr>
              <a:t>Budget (INR)</a:t>
            </a:r>
            <a:endParaRPr lang="en-US" sz="850" dirty="0"/>
          </a:p>
        </p:txBody>
      </p:sp>
      <p:sp>
        <p:nvSpPr>
          <p:cNvPr id="24" name="Text 22"/>
          <p:cNvSpPr/>
          <p:nvPr/>
        </p:nvSpPr>
        <p:spPr>
          <a:xfrm>
            <a:off x="3721608" y="4599432"/>
            <a:ext cx="2377440" cy="256032"/>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822960" y="5166360"/>
            <a:ext cx="5394960" cy="502920"/>
          </a:xfrm>
          <a:prstGeom prst="roundRect">
            <a:avLst>
              <a:gd name="adj" fmla="val 49091"/>
            </a:avLst>
          </a:prstGeom>
          <a:solidFill>
            <a:srgbClr val="8B1E3F"/>
          </a:solidFill>
          <a:ln/>
        </p:spPr>
      </p:sp>
      <p:sp>
        <p:nvSpPr>
          <p:cNvPr id="26" name="Text 24"/>
          <p:cNvSpPr/>
          <p:nvPr/>
        </p:nvSpPr>
        <p:spPr>
          <a:xfrm>
            <a:off x="822960" y="5166360"/>
            <a:ext cx="5394960" cy="5029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Predict Box Office Revenue</a:t>
            </a:r>
            <a:endParaRPr lang="en-US" sz="1250" dirty="0"/>
          </a:p>
        </p:txBody>
      </p:sp>
      <p:sp>
        <p:nvSpPr>
          <p:cNvPr id="27" name="Shape 25"/>
          <p:cNvSpPr/>
          <p:nvPr/>
        </p:nvSpPr>
        <p:spPr>
          <a:xfrm>
            <a:off x="822960" y="5779008"/>
            <a:ext cx="5394960" cy="320040"/>
          </a:xfrm>
          <a:prstGeom prst="roundRect">
            <a:avLst>
              <a:gd name="adj" fmla="val 14286"/>
            </a:avLst>
          </a:prstGeom>
          <a:solidFill>
            <a:srgbClr val="141420"/>
          </a:solidFill>
          <a:ln/>
        </p:spPr>
      </p:sp>
      <p:sp>
        <p:nvSpPr>
          <p:cNvPr id="28" name="Text 26"/>
          <p:cNvSpPr/>
          <p:nvPr/>
        </p:nvSpPr>
        <p:spPr>
          <a:xfrm>
            <a:off x="822960" y="5779008"/>
            <a:ext cx="5394960" cy="320040"/>
          </a:xfrm>
          <a:prstGeom prst="rect">
            <a:avLst/>
          </a:prstGeom>
          <a:noFill/>
          <a:ln/>
        </p:spPr>
        <p:txBody>
          <a:bodyPr wrap="square" rtlCol="0" anchor="ctr"/>
          <a:lstStyle/>
          <a:p>
            <a:pPr algn="ctr" indent="0" marL="0">
              <a:buNone/>
            </a:pPr>
            <a:r>
              <a:rPr lang="en-US" sz="1050" b="1" dirty="0">
                <a:solidFill>
                  <a:srgbClr val="D4AF37"/>
                </a:solidFill>
                <a:latin typeface="Courier New" pitchFamily="34" charset="0"/>
                <a:ea typeface="Courier New" pitchFamily="34" charset="-122"/>
                <a:cs typeface="Courier New" pitchFamily="34" charset="-120"/>
              </a:rPr>
              <a:t>Predicted Revenue:  ₹80,488,269.26</a:t>
            </a:r>
            <a:endParaRPr lang="en-US" sz="1050" dirty="0"/>
          </a:p>
        </p:txBody>
      </p:sp>
      <p:sp>
        <p:nvSpPr>
          <p:cNvPr id="29" name="Text 27"/>
          <p:cNvSpPr/>
          <p:nvPr/>
        </p:nvSpPr>
        <p:spPr>
          <a:xfrm>
            <a:off x="6903720" y="2148840"/>
            <a:ext cx="4754880" cy="320040"/>
          </a:xfrm>
          <a:prstGeom prst="rect">
            <a:avLst/>
          </a:prstGeom>
          <a:noFill/>
          <a:ln/>
        </p:spPr>
        <p:txBody>
          <a:bodyPr wrap="square"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How it works</a:t>
            </a:r>
            <a:endParaRPr lang="en-US" sz="1300" dirty="0"/>
          </a:p>
        </p:txBody>
      </p:sp>
      <p:sp>
        <p:nvSpPr>
          <p:cNvPr id="30" name="Shape 28"/>
          <p:cNvSpPr/>
          <p:nvPr/>
        </p:nvSpPr>
        <p:spPr>
          <a:xfrm>
            <a:off x="6903720" y="2615184"/>
            <a:ext cx="91440" cy="91440"/>
          </a:xfrm>
          <a:prstGeom prst="ellipse">
            <a:avLst/>
          </a:prstGeom>
          <a:solidFill>
            <a:srgbClr val="D4AF37"/>
          </a:solidFill>
          <a:ln/>
        </p:spPr>
      </p:sp>
      <p:sp>
        <p:nvSpPr>
          <p:cNvPr id="31" name="Text 29"/>
          <p:cNvSpPr/>
          <p:nvPr/>
        </p:nvSpPr>
        <p:spPr>
          <a:xfrm>
            <a:off x="7114032" y="2468880"/>
            <a:ext cx="4572000" cy="914400"/>
          </a:xfrm>
          <a:prstGeom prst="rect">
            <a:avLst/>
          </a:prstGeom>
          <a:noFill/>
          <a:ln/>
        </p:spPr>
        <p:txBody>
          <a:bodyPr wrap="square" rtlCol="0" anchor="ctr"/>
          <a:lstStyle/>
          <a:p>
            <a:pPr indent="0" marL="0">
              <a:lnSpc>
                <a:spcPct val="125000"/>
              </a:lnSpc>
              <a:buNone/>
            </a:pPr>
            <a:r>
              <a:rPr lang="en-US" sz="1100" dirty="0">
                <a:solidFill>
                  <a:srgbClr val="C7C6D6"/>
                </a:solidFill>
                <a:latin typeface="Calibri" pitchFamily="34" charset="0"/>
                <a:ea typeface="Calibri" pitchFamily="34" charset="-122"/>
                <a:cs typeface="Calibri" pitchFamily="34" charset="-120"/>
              </a:rPr>
              <a:t>gr.Blocks() renders dropdowns for every categorical field, sourced from unique values in the cleaned dataset (14 genres, 764 stars, 1,048 directors, 630 music directors).</a:t>
            </a:r>
            <a:endParaRPr lang="en-US" sz="1100" dirty="0"/>
          </a:p>
        </p:txBody>
      </p:sp>
      <p:sp>
        <p:nvSpPr>
          <p:cNvPr id="32" name="Shape 30"/>
          <p:cNvSpPr/>
          <p:nvPr/>
        </p:nvSpPr>
        <p:spPr>
          <a:xfrm>
            <a:off x="6903720" y="3547872"/>
            <a:ext cx="91440" cy="91440"/>
          </a:xfrm>
          <a:prstGeom prst="ellipse">
            <a:avLst/>
          </a:prstGeom>
          <a:solidFill>
            <a:srgbClr val="D4AF37"/>
          </a:solidFill>
          <a:ln/>
        </p:spPr>
      </p:sp>
      <p:sp>
        <p:nvSpPr>
          <p:cNvPr id="33" name="Text 31"/>
          <p:cNvSpPr/>
          <p:nvPr/>
        </p:nvSpPr>
        <p:spPr>
          <a:xfrm>
            <a:off x="7114032" y="3401568"/>
            <a:ext cx="4572000" cy="914400"/>
          </a:xfrm>
          <a:prstGeom prst="rect">
            <a:avLst/>
          </a:prstGeom>
          <a:noFill/>
          <a:ln/>
        </p:spPr>
        <p:txBody>
          <a:bodyPr wrap="square" rtlCol="0" anchor="ctr"/>
          <a:lstStyle/>
          <a:p>
            <a:pPr indent="0" marL="0">
              <a:lnSpc>
                <a:spcPct val="125000"/>
              </a:lnSpc>
              <a:buNone/>
            </a:pPr>
            <a:r>
              <a:rPr lang="en-US" sz="1100" dirty="0">
                <a:solidFill>
                  <a:srgbClr val="C7C6D6"/>
                </a:solidFill>
                <a:latin typeface="Calibri" pitchFamily="34" charset="0"/>
                <a:ea typeface="Calibri" pitchFamily="34" charset="-122"/>
                <a:cs typeface="Calibri" pitchFamily="34" charset="-120"/>
              </a:rPr>
              <a:t>predict_revenue() rebuilds the one-hot row, reindexes it to the training model's 2,460 columns, and calls model.predict().</a:t>
            </a:r>
            <a:endParaRPr lang="en-US" sz="1100" dirty="0"/>
          </a:p>
        </p:txBody>
      </p:sp>
      <p:sp>
        <p:nvSpPr>
          <p:cNvPr id="34" name="Shape 32"/>
          <p:cNvSpPr/>
          <p:nvPr/>
        </p:nvSpPr>
        <p:spPr>
          <a:xfrm>
            <a:off x="6903720" y="4480560"/>
            <a:ext cx="91440" cy="91440"/>
          </a:xfrm>
          <a:prstGeom prst="ellipse">
            <a:avLst/>
          </a:prstGeom>
          <a:solidFill>
            <a:srgbClr val="D4AF37"/>
          </a:solidFill>
          <a:ln/>
        </p:spPr>
      </p:sp>
      <p:sp>
        <p:nvSpPr>
          <p:cNvPr id="35" name="Text 33"/>
          <p:cNvSpPr/>
          <p:nvPr/>
        </p:nvSpPr>
        <p:spPr>
          <a:xfrm>
            <a:off x="7114032" y="4334256"/>
            <a:ext cx="4572000" cy="914400"/>
          </a:xfrm>
          <a:prstGeom prst="rect">
            <a:avLst/>
          </a:prstGeom>
          <a:noFill/>
          <a:ln/>
        </p:spPr>
        <p:txBody>
          <a:bodyPr wrap="square" rtlCol="0" anchor="ctr"/>
          <a:lstStyle/>
          <a:p>
            <a:pPr indent="0" marL="0">
              <a:lnSpc>
                <a:spcPct val="125000"/>
              </a:lnSpc>
              <a:buNone/>
            </a:pPr>
            <a:r>
              <a:rPr lang="en-US" sz="1100" dirty="0">
                <a:solidFill>
                  <a:srgbClr val="C7C6D6"/>
                </a:solidFill>
                <a:latin typeface="Calibri" pitchFamily="34" charset="0"/>
                <a:ea typeface="Calibri" pitchFamily="34" charset="-122"/>
                <a:cs typeface="Calibri" pitchFamily="34" charset="-120"/>
              </a:rPr>
              <a:t>Negative predictions are clipped to ₹0 before display.</a:t>
            </a:r>
            <a:endParaRPr lang="en-US" sz="1100" dirty="0"/>
          </a:p>
        </p:txBody>
      </p:sp>
      <p:sp>
        <p:nvSpPr>
          <p:cNvPr id="36" name="Shape 34"/>
          <p:cNvSpPr/>
          <p:nvPr/>
        </p:nvSpPr>
        <p:spPr>
          <a:xfrm>
            <a:off x="6903720" y="5413248"/>
            <a:ext cx="91440" cy="91440"/>
          </a:xfrm>
          <a:prstGeom prst="ellipse">
            <a:avLst/>
          </a:prstGeom>
          <a:solidFill>
            <a:srgbClr val="D4AF37"/>
          </a:solidFill>
          <a:ln/>
        </p:spPr>
      </p:sp>
      <p:sp>
        <p:nvSpPr>
          <p:cNvPr id="37" name="Text 35"/>
          <p:cNvSpPr/>
          <p:nvPr/>
        </p:nvSpPr>
        <p:spPr>
          <a:xfrm>
            <a:off x="7114032" y="5266944"/>
            <a:ext cx="4572000" cy="914400"/>
          </a:xfrm>
          <a:prstGeom prst="rect">
            <a:avLst/>
          </a:prstGeom>
          <a:noFill/>
          <a:ln/>
        </p:spPr>
        <p:txBody>
          <a:bodyPr wrap="square" rtlCol="0" anchor="ctr"/>
          <a:lstStyle/>
          <a:p>
            <a:pPr indent="0" marL="0">
              <a:lnSpc>
                <a:spcPct val="125000"/>
              </a:lnSpc>
              <a:buNone/>
            </a:pPr>
            <a:r>
              <a:rPr lang="en-US" sz="1100" dirty="0">
                <a:solidFill>
                  <a:srgbClr val="C7C6D6"/>
                </a:solidFill>
                <a:latin typeface="Calibri" pitchFamily="34" charset="0"/>
                <a:ea typeface="Calibri" pitchFamily="34" charset="-122"/>
                <a:cs typeface="Calibri" pitchFamily="34" charset="-120"/>
              </a:rPr>
              <a:t>app.launch() serves the interface locally at http://127.0.0.1:7860, ready to share.</a:t>
            </a:r>
            <a:endParaRPr lang="en-US" sz="1100" dirty="0"/>
          </a:p>
        </p:txBody>
      </p:sp>
      <p:sp>
        <p:nvSpPr>
          <p:cNvPr id="38" name="Text 36"/>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8A8A9A"/>
                </a:solidFill>
                <a:latin typeface="Calibri" pitchFamily="34" charset="0"/>
                <a:ea typeface="Calibri" pitchFamily="34" charset="-122"/>
                <a:cs typeface="Calibri" pitchFamily="34" charset="-120"/>
              </a:rPr>
              <a:t>BOX OFFICE REVENUE PREDICTION</a:t>
            </a:r>
            <a:endParaRPr lang="en-US" sz="900" dirty="0"/>
          </a:p>
        </p:txBody>
      </p:sp>
      <p:sp>
        <p:nvSpPr>
          <p:cNvPr id="39" name="Text 37"/>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8A8A9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11480"/>
            <a:ext cx="4572000" cy="320040"/>
          </a:xfrm>
          <a:prstGeom prst="rect">
            <a:avLst/>
          </a:prstGeom>
          <a:noFill/>
          <a:ln/>
        </p:spPr>
        <p:txBody>
          <a:bodyPr wrap="square" rtlCol="0" anchor="ctr"/>
          <a:lstStyle/>
          <a:p>
            <a:pPr indent="0" marL="0">
              <a:buNone/>
            </a:pPr>
            <a:r>
              <a:rPr lang="en-US" sz="1200" b="1" spc="200" kern="0" dirty="0">
                <a:solidFill>
                  <a:srgbClr val="8B1E3F"/>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457200" y="713232"/>
            <a:ext cx="11247120" cy="640080"/>
          </a:xfrm>
          <a:prstGeom prst="rect">
            <a:avLst/>
          </a:prstGeom>
          <a:noFill/>
          <a:ln/>
        </p:spPr>
        <p:txBody>
          <a:bodyPr wrap="square" rtlCol="0" anchor="ctr"/>
          <a:lstStyle/>
          <a:p>
            <a:pPr indent="0" marL="0">
              <a:buNone/>
            </a:pPr>
            <a:r>
              <a:rPr lang="en-US" sz="3000" b="1" dirty="0">
                <a:solidFill>
                  <a:srgbClr val="1A1A2E"/>
                </a:solidFill>
                <a:latin typeface="Cambria" pitchFamily="34" charset="0"/>
                <a:ea typeface="Cambria" pitchFamily="34" charset="-122"/>
                <a:cs typeface="Cambria" pitchFamily="34" charset="-120"/>
              </a:rPr>
              <a:t>Conclusion &amp; Future Work</a:t>
            </a:r>
            <a:endParaRPr lang="en-US" sz="3000" dirty="0"/>
          </a:p>
        </p:txBody>
      </p:sp>
      <p:sp>
        <p:nvSpPr>
          <p:cNvPr id="4" name="Text 2"/>
          <p:cNvSpPr/>
          <p:nvPr/>
        </p:nvSpPr>
        <p:spPr>
          <a:xfrm>
            <a:off x="457200" y="1261872"/>
            <a:ext cx="11247120" cy="365760"/>
          </a:xfrm>
          <a:prstGeom prst="rect">
            <a:avLst/>
          </a:prstGeom>
          <a:noFill/>
          <a:ln/>
        </p:spPr>
        <p:txBody>
          <a:bodyPr wrap="square" rtlCol="0" anchor="ctr"/>
          <a:lstStyle/>
          <a:p>
            <a:pPr indent="0" marL="0">
              <a:buNone/>
            </a:pPr>
            <a:r>
              <a:rPr lang="en-US" sz="1350" dirty="0">
                <a:solidFill>
                  <a:srgbClr val="6B6B7B"/>
                </a:solidFill>
                <a:latin typeface="Calibri" pitchFamily="34" charset="0"/>
                <a:ea typeface="Calibri" pitchFamily="34" charset="-122"/>
                <a:cs typeface="Calibri" pitchFamily="34" charset="-120"/>
              </a:rPr>
              <a:t>What we built, and where it goes next</a:t>
            </a:r>
            <a:endParaRPr lang="en-US" sz="1350" dirty="0"/>
          </a:p>
        </p:txBody>
      </p:sp>
      <p:sp>
        <p:nvSpPr>
          <p:cNvPr id="5" name="Shape 3"/>
          <p:cNvSpPr/>
          <p:nvPr/>
        </p:nvSpPr>
        <p:spPr>
          <a:xfrm>
            <a:off x="457200" y="2011680"/>
            <a:ext cx="5486400" cy="3977640"/>
          </a:xfrm>
          <a:prstGeom prst="roundRect">
            <a:avLst>
              <a:gd name="adj" fmla="val 1839"/>
            </a:avLst>
          </a:prstGeom>
          <a:solidFill>
            <a:srgbClr val="F2F1F5"/>
          </a:solidFill>
          <a:ln w="9525">
            <a:solidFill>
              <a:srgbClr val="E3E1E8"/>
            </a:solidFill>
            <a:prstDash val="solid"/>
          </a:ln>
        </p:spPr>
      </p:sp>
      <p:sp>
        <p:nvSpPr>
          <p:cNvPr id="6" name="Text 4"/>
          <p:cNvSpPr/>
          <p:nvPr/>
        </p:nvSpPr>
        <p:spPr>
          <a:xfrm>
            <a:off x="731520" y="2212848"/>
            <a:ext cx="4937760" cy="274320"/>
          </a:xfrm>
          <a:prstGeom prst="rect">
            <a:avLst/>
          </a:prstGeom>
          <a:noFill/>
          <a:ln/>
        </p:spPr>
        <p:txBody>
          <a:bodyPr wrap="square" rtlCol="0" anchor="ctr"/>
          <a:lstStyle/>
          <a:p>
            <a:pPr indent="0" marL="0">
              <a:buNone/>
            </a:pPr>
            <a:r>
              <a:rPr lang="en-US" sz="1100" b="1" spc="150" kern="0" dirty="0">
                <a:solidFill>
                  <a:srgbClr val="8B1E3F"/>
                </a:solidFill>
                <a:latin typeface="Calibri" pitchFamily="34" charset="0"/>
                <a:ea typeface="Calibri" pitchFamily="34" charset="-122"/>
                <a:cs typeface="Calibri" pitchFamily="34" charset="-120"/>
              </a:rPr>
              <a:t>SUMMARY</a:t>
            </a:r>
            <a:endParaRPr lang="en-US" sz="1100" dirty="0"/>
          </a:p>
        </p:txBody>
      </p:sp>
      <p:sp>
        <p:nvSpPr>
          <p:cNvPr id="7" name="Shape 5"/>
          <p:cNvSpPr/>
          <p:nvPr/>
        </p:nvSpPr>
        <p:spPr>
          <a:xfrm>
            <a:off x="731520" y="2660904"/>
            <a:ext cx="100584" cy="100584"/>
          </a:xfrm>
          <a:prstGeom prst="ellipse">
            <a:avLst/>
          </a:prstGeom>
          <a:solidFill>
            <a:srgbClr val="8B1E3F"/>
          </a:solidFill>
          <a:ln/>
        </p:spPr>
      </p:sp>
      <p:sp>
        <p:nvSpPr>
          <p:cNvPr id="8" name="Text 6"/>
          <p:cNvSpPr/>
          <p:nvPr/>
        </p:nvSpPr>
        <p:spPr>
          <a:xfrm>
            <a:off x="960120" y="2532888"/>
            <a:ext cx="4800600" cy="685800"/>
          </a:xfrm>
          <a:prstGeom prst="rect">
            <a:avLst/>
          </a:prstGeom>
          <a:noFill/>
          <a:ln/>
        </p:spPr>
        <p:txBody>
          <a:bodyPr wrap="square" rtlCol="0" anchor="ctr"/>
          <a:lstStyle/>
          <a:p>
            <a:pPr indent="0" marL="0">
              <a:lnSpc>
                <a:spcPct val="120000"/>
              </a:lnSpc>
              <a:buNone/>
            </a:pPr>
            <a:r>
              <a:rPr lang="en-US" sz="1150" dirty="0">
                <a:solidFill>
                  <a:srgbClr val="1A1A2E"/>
                </a:solidFill>
                <a:latin typeface="Calibri" pitchFamily="34" charset="0"/>
                <a:ea typeface="Calibri" pitchFamily="34" charset="-122"/>
                <a:cs typeface="Calibri" pitchFamily="34" charset="-120"/>
              </a:rPr>
              <a:t>A 10-stage CRISP-DM pipeline took 1,698 raw film records to a deployed prediction app.</a:t>
            </a:r>
            <a:endParaRPr lang="en-US" sz="1150" dirty="0"/>
          </a:p>
        </p:txBody>
      </p:sp>
      <p:sp>
        <p:nvSpPr>
          <p:cNvPr id="9" name="Shape 7"/>
          <p:cNvSpPr/>
          <p:nvPr/>
        </p:nvSpPr>
        <p:spPr>
          <a:xfrm>
            <a:off x="731520" y="3502152"/>
            <a:ext cx="100584" cy="100584"/>
          </a:xfrm>
          <a:prstGeom prst="ellipse">
            <a:avLst/>
          </a:prstGeom>
          <a:solidFill>
            <a:srgbClr val="8B1E3F"/>
          </a:solidFill>
          <a:ln/>
        </p:spPr>
      </p:sp>
      <p:sp>
        <p:nvSpPr>
          <p:cNvPr id="10" name="Text 8"/>
          <p:cNvSpPr/>
          <p:nvPr/>
        </p:nvSpPr>
        <p:spPr>
          <a:xfrm>
            <a:off x="960120" y="3374136"/>
            <a:ext cx="4800600" cy="685800"/>
          </a:xfrm>
          <a:prstGeom prst="rect">
            <a:avLst/>
          </a:prstGeom>
          <a:noFill/>
          <a:ln/>
        </p:spPr>
        <p:txBody>
          <a:bodyPr wrap="square" rtlCol="0" anchor="ctr"/>
          <a:lstStyle/>
          <a:p>
            <a:pPr indent="0" marL="0">
              <a:lnSpc>
                <a:spcPct val="120000"/>
              </a:lnSpc>
              <a:buNone/>
            </a:pPr>
            <a:r>
              <a:rPr lang="en-US" sz="1150" dirty="0">
                <a:solidFill>
                  <a:srgbClr val="1A1A2E"/>
                </a:solidFill>
                <a:latin typeface="Calibri" pitchFamily="34" charset="0"/>
                <a:ea typeface="Calibri" pitchFamily="34" charset="-122"/>
                <a:cs typeface="Calibri" pitchFamily="34" charset="-120"/>
              </a:rPr>
              <a:t>Elastic Net Regression on 2,460 one-hot features reaches R² = 0.79 and MAE ≈ ₹6.7 Cr on unseen films.</a:t>
            </a:r>
            <a:endParaRPr lang="en-US" sz="1150" dirty="0"/>
          </a:p>
        </p:txBody>
      </p:sp>
      <p:sp>
        <p:nvSpPr>
          <p:cNvPr id="11" name="Shape 9"/>
          <p:cNvSpPr/>
          <p:nvPr/>
        </p:nvSpPr>
        <p:spPr>
          <a:xfrm>
            <a:off x="731520" y="4343400"/>
            <a:ext cx="100584" cy="100584"/>
          </a:xfrm>
          <a:prstGeom prst="ellipse">
            <a:avLst/>
          </a:prstGeom>
          <a:solidFill>
            <a:srgbClr val="8B1E3F"/>
          </a:solidFill>
          <a:ln/>
        </p:spPr>
      </p:sp>
      <p:sp>
        <p:nvSpPr>
          <p:cNvPr id="12" name="Text 10"/>
          <p:cNvSpPr/>
          <p:nvPr/>
        </p:nvSpPr>
        <p:spPr>
          <a:xfrm>
            <a:off x="960120" y="4215384"/>
            <a:ext cx="4800600" cy="685800"/>
          </a:xfrm>
          <a:prstGeom prst="rect">
            <a:avLst/>
          </a:prstGeom>
          <a:noFill/>
          <a:ln/>
        </p:spPr>
        <p:txBody>
          <a:bodyPr wrap="square" rtlCol="0" anchor="ctr"/>
          <a:lstStyle/>
          <a:p>
            <a:pPr indent="0" marL="0">
              <a:lnSpc>
                <a:spcPct val="120000"/>
              </a:lnSpc>
              <a:buNone/>
            </a:pPr>
            <a:r>
              <a:rPr lang="en-US" sz="1150" dirty="0">
                <a:solidFill>
                  <a:srgbClr val="1A1A2E"/>
                </a:solidFill>
                <a:latin typeface="Calibri" pitchFamily="34" charset="0"/>
                <a:ea typeface="Calibri" pitchFamily="34" charset="-122"/>
                <a:cs typeface="Calibri" pitchFamily="34" charset="-120"/>
              </a:rPr>
              <a:t>Number_of_Screens and Budget(INR) dominate the prediction, with lead-star identity as a strong secondary signal.</a:t>
            </a:r>
            <a:endParaRPr lang="en-US" sz="1150" dirty="0"/>
          </a:p>
        </p:txBody>
      </p:sp>
      <p:sp>
        <p:nvSpPr>
          <p:cNvPr id="13" name="Shape 11"/>
          <p:cNvSpPr/>
          <p:nvPr/>
        </p:nvSpPr>
        <p:spPr>
          <a:xfrm>
            <a:off x="731520" y="5184648"/>
            <a:ext cx="100584" cy="100584"/>
          </a:xfrm>
          <a:prstGeom prst="ellipse">
            <a:avLst/>
          </a:prstGeom>
          <a:solidFill>
            <a:srgbClr val="8B1E3F"/>
          </a:solidFill>
          <a:ln/>
        </p:spPr>
      </p:sp>
      <p:sp>
        <p:nvSpPr>
          <p:cNvPr id="14" name="Text 12"/>
          <p:cNvSpPr/>
          <p:nvPr/>
        </p:nvSpPr>
        <p:spPr>
          <a:xfrm>
            <a:off x="960120" y="5056632"/>
            <a:ext cx="4800600" cy="685800"/>
          </a:xfrm>
          <a:prstGeom prst="rect">
            <a:avLst/>
          </a:prstGeom>
          <a:noFill/>
          <a:ln/>
        </p:spPr>
        <p:txBody>
          <a:bodyPr wrap="square" rtlCol="0" anchor="ctr"/>
          <a:lstStyle/>
          <a:p>
            <a:pPr indent="0" marL="0">
              <a:lnSpc>
                <a:spcPct val="120000"/>
              </a:lnSpc>
              <a:buNone/>
            </a:pPr>
            <a:r>
              <a:rPr lang="en-US" sz="1150" dirty="0">
                <a:solidFill>
                  <a:srgbClr val="1A1A2E"/>
                </a:solidFill>
                <a:latin typeface="Calibri" pitchFamily="34" charset="0"/>
                <a:ea typeface="Calibri" pitchFamily="34" charset="-122"/>
                <a:cs typeface="Calibri" pitchFamily="34" charset="-120"/>
              </a:rPr>
              <a:t>The model is packaged behind a Gradio interface for non-technical, interactive use.</a:t>
            </a:r>
            <a:endParaRPr lang="en-US" sz="1150" dirty="0"/>
          </a:p>
        </p:txBody>
      </p:sp>
      <p:sp>
        <p:nvSpPr>
          <p:cNvPr id="15" name="Shape 13"/>
          <p:cNvSpPr/>
          <p:nvPr/>
        </p:nvSpPr>
        <p:spPr>
          <a:xfrm>
            <a:off x="6217920" y="2011680"/>
            <a:ext cx="5486400" cy="3977640"/>
          </a:xfrm>
          <a:prstGeom prst="roundRect">
            <a:avLst>
              <a:gd name="adj" fmla="val 1839"/>
            </a:avLst>
          </a:prstGeom>
          <a:solidFill>
            <a:srgbClr val="141420"/>
          </a:solidFill>
          <a:ln/>
        </p:spPr>
      </p:sp>
      <p:sp>
        <p:nvSpPr>
          <p:cNvPr id="16" name="Text 14"/>
          <p:cNvSpPr/>
          <p:nvPr/>
        </p:nvSpPr>
        <p:spPr>
          <a:xfrm>
            <a:off x="6492240" y="2212848"/>
            <a:ext cx="4937760" cy="274320"/>
          </a:xfrm>
          <a:prstGeom prst="rect">
            <a:avLst/>
          </a:prstGeom>
          <a:noFill/>
          <a:ln/>
        </p:spPr>
        <p:txBody>
          <a:bodyPr wrap="square" rtlCol="0" anchor="ctr"/>
          <a:lstStyle/>
          <a:p>
            <a:pPr indent="0" marL="0">
              <a:buNone/>
            </a:pPr>
            <a:r>
              <a:rPr lang="en-US" sz="1100" b="1" spc="150" kern="0" dirty="0">
                <a:solidFill>
                  <a:srgbClr val="D4AF37"/>
                </a:solidFill>
                <a:latin typeface="Calibri" pitchFamily="34" charset="0"/>
                <a:ea typeface="Calibri" pitchFamily="34" charset="-122"/>
                <a:cs typeface="Calibri" pitchFamily="34" charset="-120"/>
              </a:rPr>
              <a:t>NEXT STEPS</a:t>
            </a:r>
            <a:endParaRPr lang="en-US" sz="1100" dirty="0"/>
          </a:p>
        </p:txBody>
      </p:sp>
      <p:sp>
        <p:nvSpPr>
          <p:cNvPr id="17" name="Shape 15"/>
          <p:cNvSpPr/>
          <p:nvPr/>
        </p:nvSpPr>
        <p:spPr>
          <a:xfrm>
            <a:off x="6492240" y="2660904"/>
            <a:ext cx="100584" cy="100584"/>
          </a:xfrm>
          <a:prstGeom prst="ellipse">
            <a:avLst/>
          </a:prstGeom>
          <a:solidFill>
            <a:srgbClr val="D4AF37"/>
          </a:solidFill>
          <a:ln/>
        </p:spPr>
      </p:sp>
      <p:sp>
        <p:nvSpPr>
          <p:cNvPr id="18" name="Text 16"/>
          <p:cNvSpPr/>
          <p:nvPr/>
        </p:nvSpPr>
        <p:spPr>
          <a:xfrm>
            <a:off x="6720840" y="2532888"/>
            <a:ext cx="4800600" cy="640080"/>
          </a:xfrm>
          <a:prstGeom prst="rect">
            <a:avLst/>
          </a:prstGeom>
          <a:noFill/>
          <a:ln/>
        </p:spPr>
        <p:txBody>
          <a:bodyPr wrap="square" rtlCol="0" anchor="ctr"/>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Try tree-based ensembles (Random Forest, Gradient Boosting) to capture non-linear star/genre interactions.</a:t>
            </a:r>
            <a:endParaRPr lang="en-US" sz="1100" dirty="0"/>
          </a:p>
        </p:txBody>
      </p:sp>
      <p:sp>
        <p:nvSpPr>
          <p:cNvPr id="19" name="Shape 17"/>
          <p:cNvSpPr/>
          <p:nvPr/>
        </p:nvSpPr>
        <p:spPr>
          <a:xfrm>
            <a:off x="6492240" y="3346704"/>
            <a:ext cx="100584" cy="100584"/>
          </a:xfrm>
          <a:prstGeom prst="ellipse">
            <a:avLst/>
          </a:prstGeom>
          <a:solidFill>
            <a:srgbClr val="D4AF37"/>
          </a:solidFill>
          <a:ln/>
        </p:spPr>
      </p:sp>
      <p:sp>
        <p:nvSpPr>
          <p:cNvPr id="20" name="Text 18"/>
          <p:cNvSpPr/>
          <p:nvPr/>
        </p:nvSpPr>
        <p:spPr>
          <a:xfrm>
            <a:off x="6720840" y="3218688"/>
            <a:ext cx="4800600" cy="640080"/>
          </a:xfrm>
          <a:prstGeom prst="rect">
            <a:avLst/>
          </a:prstGeom>
          <a:noFill/>
          <a:ln/>
        </p:spPr>
        <p:txBody>
          <a:bodyPr wrap="square" rtlCol="0" anchor="ctr"/>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Log-transform Revenue(INR) to tame right-skew and reduce blockbuster under-prediction.</a:t>
            </a:r>
            <a:endParaRPr lang="en-US" sz="1100" dirty="0"/>
          </a:p>
        </p:txBody>
      </p:sp>
      <p:sp>
        <p:nvSpPr>
          <p:cNvPr id="21" name="Shape 19"/>
          <p:cNvSpPr/>
          <p:nvPr/>
        </p:nvSpPr>
        <p:spPr>
          <a:xfrm>
            <a:off x="6492240" y="4032504"/>
            <a:ext cx="100584" cy="100584"/>
          </a:xfrm>
          <a:prstGeom prst="ellipse">
            <a:avLst/>
          </a:prstGeom>
          <a:solidFill>
            <a:srgbClr val="D4AF37"/>
          </a:solidFill>
          <a:ln/>
        </p:spPr>
      </p:sp>
      <p:sp>
        <p:nvSpPr>
          <p:cNvPr id="22" name="Text 20"/>
          <p:cNvSpPr/>
          <p:nvPr/>
        </p:nvSpPr>
        <p:spPr>
          <a:xfrm>
            <a:off x="6720840" y="3904488"/>
            <a:ext cx="4800600" cy="640080"/>
          </a:xfrm>
          <a:prstGeom prst="rect">
            <a:avLst/>
          </a:prstGeom>
          <a:noFill/>
          <a:ln/>
        </p:spPr>
        <p:txBody>
          <a:bodyPr wrap="square" rtlCol="0" anchor="ctr"/>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Group rare Lead_Star / Director / Music_Director levels to cut dimensionality below 2,460 features.</a:t>
            </a:r>
            <a:endParaRPr lang="en-US" sz="1100" dirty="0"/>
          </a:p>
        </p:txBody>
      </p:sp>
      <p:sp>
        <p:nvSpPr>
          <p:cNvPr id="23" name="Shape 21"/>
          <p:cNvSpPr/>
          <p:nvPr/>
        </p:nvSpPr>
        <p:spPr>
          <a:xfrm>
            <a:off x="6492240" y="4718304"/>
            <a:ext cx="100584" cy="100584"/>
          </a:xfrm>
          <a:prstGeom prst="ellipse">
            <a:avLst/>
          </a:prstGeom>
          <a:solidFill>
            <a:srgbClr val="D4AF37"/>
          </a:solidFill>
          <a:ln/>
        </p:spPr>
      </p:sp>
      <p:sp>
        <p:nvSpPr>
          <p:cNvPr id="24" name="Text 22"/>
          <p:cNvSpPr/>
          <p:nvPr/>
        </p:nvSpPr>
        <p:spPr>
          <a:xfrm>
            <a:off x="6720840" y="4590288"/>
            <a:ext cx="4800600" cy="640080"/>
          </a:xfrm>
          <a:prstGeom prst="rect">
            <a:avLst/>
          </a:prstGeom>
          <a:noFill/>
          <a:ln/>
        </p:spPr>
        <p:txBody>
          <a:bodyPr wrap="square" rtlCol="0" anchor="ctr"/>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Tune alpha and l1_ratio via cross-validated grid search rather than fixed values.</a:t>
            </a:r>
            <a:endParaRPr lang="en-US" sz="1100" dirty="0"/>
          </a:p>
        </p:txBody>
      </p:sp>
      <p:sp>
        <p:nvSpPr>
          <p:cNvPr id="25" name="Shape 23"/>
          <p:cNvSpPr/>
          <p:nvPr/>
        </p:nvSpPr>
        <p:spPr>
          <a:xfrm>
            <a:off x="6492240" y="5404104"/>
            <a:ext cx="100584" cy="100584"/>
          </a:xfrm>
          <a:prstGeom prst="ellipse">
            <a:avLst/>
          </a:prstGeom>
          <a:solidFill>
            <a:srgbClr val="D4AF37"/>
          </a:solidFill>
          <a:ln/>
        </p:spPr>
      </p:sp>
      <p:sp>
        <p:nvSpPr>
          <p:cNvPr id="26" name="Text 24"/>
          <p:cNvSpPr/>
          <p:nvPr/>
        </p:nvSpPr>
        <p:spPr>
          <a:xfrm>
            <a:off x="6720840" y="5276088"/>
            <a:ext cx="4800600" cy="640080"/>
          </a:xfrm>
          <a:prstGeom prst="rect">
            <a:avLst/>
          </a:prstGeom>
          <a:noFill/>
          <a:ln/>
        </p:spPr>
        <p:txBody>
          <a:bodyPr wrap="square" rtlCol="0" anchor="ctr"/>
          <a:lstStyle/>
          <a:p>
            <a:pPr indent="0" marL="0">
              <a:lnSpc>
                <a:spcPct val="120000"/>
              </a:lnSpc>
              <a:buNone/>
            </a:pPr>
            <a:r>
              <a:rPr lang="en-US" sz="1100" dirty="0">
                <a:solidFill>
                  <a:srgbClr val="FFFFFF"/>
                </a:solidFill>
                <a:latin typeface="Calibri" pitchFamily="34" charset="0"/>
                <a:ea typeface="Calibri" pitchFamily="34" charset="-122"/>
                <a:cs typeface="Calibri" pitchFamily="34" charset="-120"/>
              </a:rPr>
              <a:t>Add marketing spend, trailer views, or star social-following as pre-release features.</a:t>
            </a:r>
            <a:endParaRPr lang="en-US" sz="1100" dirty="0"/>
          </a:p>
        </p:txBody>
      </p:sp>
      <p:sp>
        <p:nvSpPr>
          <p:cNvPr id="27" name="Text 25"/>
          <p:cNvSpPr/>
          <p:nvPr/>
        </p:nvSpPr>
        <p:spPr>
          <a:xfrm>
            <a:off x="457200" y="6473952"/>
            <a:ext cx="5486400" cy="274320"/>
          </a:xfrm>
          <a:prstGeom prst="rect">
            <a:avLst/>
          </a:prstGeom>
          <a:noFill/>
          <a:ln/>
        </p:spPr>
        <p:txBody>
          <a:bodyPr wrap="square" rtlCol="0" anchor="ctr"/>
          <a:lstStyle/>
          <a:p>
            <a:pPr algn="l" indent="0" marL="0">
              <a:buNone/>
            </a:pPr>
            <a:r>
              <a:rPr lang="en-US" sz="900" spc="100" kern="0" dirty="0">
                <a:solidFill>
                  <a:srgbClr val="6B6B7B"/>
                </a:solidFill>
                <a:latin typeface="Calibri" pitchFamily="34" charset="0"/>
                <a:ea typeface="Calibri" pitchFamily="34" charset="-122"/>
                <a:cs typeface="Calibri" pitchFamily="34" charset="-120"/>
              </a:rPr>
              <a:t>BOX OFFICE REVENUE PREDICTION</a:t>
            </a:r>
            <a:endParaRPr lang="en-US" sz="900" dirty="0"/>
          </a:p>
        </p:txBody>
      </p:sp>
      <p:sp>
        <p:nvSpPr>
          <p:cNvPr id="28" name="Text 26"/>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6B6B7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420"/>
        </a:solidFill>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E1E2E"/>
          </a:solidFill>
          <a:ln/>
        </p:spPr>
      </p:sp>
      <p:sp>
        <p:nvSpPr>
          <p:cNvPr id="3" name="Shape 1"/>
          <p:cNvSpPr/>
          <p:nvPr/>
        </p:nvSpPr>
        <p:spPr>
          <a:xfrm>
            <a:off x="9875520" y="4206240"/>
            <a:ext cx="4572000" cy="4572000"/>
          </a:xfrm>
          <a:prstGeom prst="ellipse">
            <a:avLst/>
          </a:prstGeom>
          <a:solidFill>
            <a:srgbClr val="1E1E2E"/>
          </a:solidFill>
          <a:ln/>
        </p:spPr>
      </p:sp>
      <p:sp>
        <p:nvSpPr>
          <p:cNvPr id="4" name="Shape 2"/>
          <p:cNvSpPr/>
          <p:nvPr/>
        </p:nvSpPr>
        <p:spPr>
          <a:xfrm>
            <a:off x="10881360" y="548640"/>
            <a:ext cx="1463040" cy="1463040"/>
          </a:xfrm>
          <a:prstGeom prst="ellipse">
            <a:avLst/>
          </a:prstGeom>
          <a:solidFill>
            <a:srgbClr val="8B1E3F"/>
          </a:solidFill>
          <a:ln/>
        </p:spPr>
      </p:sp>
      <p:sp>
        <p:nvSpPr>
          <p:cNvPr id="5" name="Text 3"/>
          <p:cNvSpPr/>
          <p:nvPr/>
        </p:nvSpPr>
        <p:spPr>
          <a:xfrm>
            <a:off x="822960" y="2651760"/>
            <a:ext cx="9144000" cy="100584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Shape 4"/>
          <p:cNvSpPr/>
          <p:nvPr/>
        </p:nvSpPr>
        <p:spPr>
          <a:xfrm>
            <a:off x="868680" y="3611880"/>
            <a:ext cx="1005840" cy="0"/>
          </a:xfrm>
          <a:prstGeom prst="line">
            <a:avLst/>
          </a:prstGeom>
          <a:noFill/>
          <a:ln w="31750">
            <a:solidFill>
              <a:srgbClr val="D4AF37"/>
            </a:solidFill>
            <a:prstDash val="solid"/>
          </a:ln>
        </p:spPr>
      </p:sp>
      <p:sp>
        <p:nvSpPr>
          <p:cNvPr id="7" name="Text 5"/>
          <p:cNvSpPr/>
          <p:nvPr/>
        </p:nvSpPr>
        <p:spPr>
          <a:xfrm>
            <a:off x="822960" y="3794760"/>
            <a:ext cx="8686800" cy="411480"/>
          </a:xfrm>
          <a:prstGeom prst="rect">
            <a:avLst/>
          </a:prstGeom>
          <a:noFill/>
          <a:ln/>
        </p:spPr>
        <p:txBody>
          <a:bodyPr wrap="square" rtlCol="0" anchor="ctr"/>
          <a:lstStyle/>
          <a:p>
            <a:pPr indent="0" marL="0">
              <a:buNone/>
            </a:pPr>
            <a:r>
              <a:rPr lang="en-US" sz="1400" dirty="0">
                <a:solidFill>
                  <a:srgbClr val="C7C6D6"/>
                </a:solidFill>
                <a:latin typeface="Calibri" pitchFamily="34" charset="0"/>
                <a:ea typeface="Calibri" pitchFamily="34" charset="-122"/>
                <a:cs typeface="Calibri" pitchFamily="34" charset="-120"/>
              </a:rPr>
              <a:t>Box Office Revenue Prediction — Elastic Net Regression Pipeline</a:t>
            </a:r>
            <a:endParaRPr lang="en-US" sz="1400" dirty="0"/>
          </a:p>
        </p:txBody>
      </p:sp>
      <p:sp>
        <p:nvSpPr>
          <p:cNvPr id="8" name="Text 6"/>
          <p:cNvSpPr/>
          <p:nvPr/>
        </p:nvSpPr>
        <p:spPr>
          <a:xfrm>
            <a:off x="822960" y="4297680"/>
            <a:ext cx="8686800" cy="365760"/>
          </a:xfrm>
          <a:prstGeom prst="rect">
            <a:avLst/>
          </a:prstGeom>
          <a:noFill/>
          <a:ln/>
        </p:spPr>
        <p:txBody>
          <a:bodyPr wrap="square" rtlCol="0" anchor="ctr"/>
          <a:lstStyle/>
          <a:p>
            <a:pPr indent="0" marL="0">
              <a:buNone/>
            </a:pPr>
            <a:r>
              <a:rPr lang="en-US" sz="1250" i="1" dirty="0">
                <a:solidFill>
                  <a:srgbClr val="D4AF37"/>
                </a:solidFill>
                <a:latin typeface="Calibri" pitchFamily="34" charset="0"/>
                <a:ea typeface="Calibri" pitchFamily="34" charset="-122"/>
                <a:cs typeface="Calibri" pitchFamily="34" charset="-120"/>
              </a:rPr>
              <a:t>Questions &amp; Discussion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2026-09-20T13:37:34Z</dcterms:created>
  <dcterms:modified xsi:type="dcterms:W3CDTF">2026-09-20T13:37:34Z</dcterms:modified>
</cp:coreProperties>
</file>